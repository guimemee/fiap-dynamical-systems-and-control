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58" r:id="rId5"/>
    <p:sldId id="260" r:id="rId6"/>
    <p:sldId id="261" r:id="rId7"/>
    <p:sldId id="259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78" r:id="rId21"/>
    <p:sldId id="279" r:id="rId22"/>
    <p:sldId id="276" r:id="rId23"/>
    <p:sldId id="280" r:id="rId24"/>
    <p:sldId id="281" r:id="rId25"/>
    <p:sldId id="282" r:id="rId26"/>
    <p:sldId id="283" r:id="rId27"/>
    <p:sldId id="284" r:id="rId28"/>
    <p:sldId id="285" r:id="rId29"/>
    <p:sldId id="286" r:id="rId3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6C9A-19EB-ABC1-F2AA-3235EFFED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6D43E-8778-91CA-B531-6838C945C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2ACC4-E00A-1A3D-82E2-C43E9AA3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2498-B35F-4BA8-9283-459EF313EF4F}" type="datetimeFigureOut">
              <a:rPr lang="pt-BR" smtClean="0"/>
              <a:t>28/08/2024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6306C-F306-58DE-9B4E-B96713016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0ED5B-62F2-7452-B807-1DA8FFD41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0DF3-88CF-44C5-B343-A079A5D88D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7021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8D888-A9A3-19FD-C9B2-C32922948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B67BB-E939-6BAE-220E-6BD04ECC1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8D224-1EF7-429C-BA95-49FD83EEF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2498-B35F-4BA8-9283-459EF313EF4F}" type="datetimeFigureOut">
              <a:rPr lang="pt-BR" smtClean="0"/>
              <a:t>28/08/2024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19C2B-CA34-9ADC-23C5-15C6EDEBE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5999C-9698-4CAD-BCC6-1AF76822E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0DF3-88CF-44C5-B343-A079A5D88D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6180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84499-56C5-22C7-B9D7-9285CE747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E2D41-585C-06F1-60D2-1C9F72A5A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3A13E-5812-B579-4454-5BA71FC81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2498-B35F-4BA8-9283-459EF313EF4F}" type="datetimeFigureOut">
              <a:rPr lang="pt-BR" smtClean="0"/>
              <a:t>28/08/2024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B3D25-88C5-49D2-6E08-CC90681E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F9821-0DB7-5259-F342-A0C834A0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0DF3-88CF-44C5-B343-A079A5D88D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8726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5A8D2-9EAE-8278-EDE8-0248DC78C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92E6E-3EBA-F161-119C-24C073273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1EE3D-FF6F-A204-3D08-9AB89C21C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FD9EF-48C5-64B0-C4A1-2773C499A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2498-B35F-4BA8-9283-459EF313EF4F}" type="datetimeFigureOut">
              <a:rPr lang="pt-BR" smtClean="0"/>
              <a:t>28/08/2024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15059-636C-218F-617F-06BF01CE5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1637B-F6C0-EFFB-3FA1-CECBDFA04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0DF3-88CF-44C5-B343-A079A5D88D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196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8A662-F1EE-8BA7-E289-444B0E9B3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3BCE7-D792-72FE-143C-45740B420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11A62-7C7E-2EE7-6DFA-C08013A18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EAA4A5-A382-8D22-CE3C-C55ACD379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75FF6F-A83F-8488-70EA-DC84E3F480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AF68B4-DAFC-AD63-A6DC-19294472C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2498-B35F-4BA8-9283-459EF313EF4F}" type="datetimeFigureOut">
              <a:rPr lang="pt-BR" smtClean="0"/>
              <a:t>28/08/2024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BE0617-3F47-11FB-B275-14A857F6A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B428CB-3DF8-704C-EC08-A85608A51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0DF3-88CF-44C5-B343-A079A5D88D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1386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94AB1-8F1D-92AC-E7B9-921F18B7E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0ED924-339C-2C36-5C4C-50DEBADA8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2498-B35F-4BA8-9283-459EF313EF4F}" type="datetimeFigureOut">
              <a:rPr lang="pt-BR" smtClean="0"/>
              <a:t>28/08/2024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016654-79B6-5999-C23C-7A627FE9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BD926-86F3-CB9E-5D8A-88E026B0A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0DF3-88CF-44C5-B343-A079A5D88D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0847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1B2264-570D-7857-D223-D89CA7D4B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2498-B35F-4BA8-9283-459EF313EF4F}" type="datetimeFigureOut">
              <a:rPr lang="pt-BR" smtClean="0"/>
              <a:t>28/08/2024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286EC-705A-44EB-DFB6-7CEAA8DA9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A7AA5-410C-4292-1EC1-C1CD6ED67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0DF3-88CF-44C5-B343-A079A5D88D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657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2562C-587D-6689-4866-3BAB4147F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3538-9AFF-7B1F-88C3-3EA7BFDC7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989625-CF09-EEC6-90A0-7A4D401102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4B9DAD-527A-5A23-93C2-58B2AD84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2498-B35F-4BA8-9283-459EF313EF4F}" type="datetimeFigureOut">
              <a:rPr lang="pt-BR" smtClean="0"/>
              <a:t>28/08/2024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A9894-1292-7187-CE29-FE622B1B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830DD-AB74-47E2-C7BC-FA0775326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0DF3-88CF-44C5-B343-A079A5D88D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2381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73540-34F9-ED71-7DBB-311F01C1F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3D4589-0128-46A3-E564-BA7654BC66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EAF3E-1234-CE2A-A983-89A14BD52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241FD-A7FC-C1A5-86CA-D084AACA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2498-B35F-4BA8-9283-459EF313EF4F}" type="datetimeFigureOut">
              <a:rPr lang="pt-BR" smtClean="0"/>
              <a:t>28/08/2024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6D7A0-9679-3ECD-048B-4BAB06BA0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89AD3-84C1-02F6-8F6A-2BA2B3587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0DF3-88CF-44C5-B343-A079A5D88D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446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0D482-EDA6-5E2E-0D20-C04CCCC9C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9848A-0F92-6647-4FF7-51347DFBC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032A8-9A9F-12FB-B9C9-C253FD74C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2498-B35F-4BA8-9283-459EF313EF4F}" type="datetimeFigureOut">
              <a:rPr lang="pt-BR" smtClean="0"/>
              <a:t>28/08/2024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5A5ED-9A04-3F7C-ACC5-F25269D3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8922C-259A-E849-7DE8-CB9DD0817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0DF3-88CF-44C5-B343-A079A5D88D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6630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16CB85-CFD0-90D4-BCDA-B1B26C4CD9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6B50A2-5EF9-60BE-10EF-56F503022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275E8-D78A-25A5-5295-4FA3F4D76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2498-B35F-4BA8-9283-459EF313EF4F}" type="datetimeFigureOut">
              <a:rPr lang="pt-BR" smtClean="0"/>
              <a:t>28/08/2024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23FC5-EC07-2234-EA76-E44C42E21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A6C4A-F9A5-54DE-78B9-A7FB9AF90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0DF3-88CF-44C5-B343-A079A5D88D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297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BA5BE3-FD81-F8DD-0C73-9FF003B9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2D8E3-0DBD-EEBC-DE7A-022E87E5C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9CD0D-8CC5-B688-058C-C68E96A29D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72498-B35F-4BA8-9283-459EF313EF4F}" type="datetimeFigureOut">
              <a:rPr lang="pt-BR" smtClean="0"/>
              <a:t>28/08/2024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ECF7A-BFAD-B4D0-E47F-D0F24D685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14D34-0FCA-B34C-D0FB-E95048FB79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30DF3-88CF-44C5-B343-A079A5D88D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866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10.png"/><Relationship Id="rId7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11" Type="http://schemas.openxmlformats.org/officeDocument/2006/relationships/image" Target="../media/image11.png"/><Relationship Id="rId5" Type="http://schemas.openxmlformats.org/officeDocument/2006/relationships/image" Target="../media/image510.png"/><Relationship Id="rId10" Type="http://schemas.openxmlformats.org/officeDocument/2006/relationships/image" Target="../media/image10.png"/><Relationship Id="rId4" Type="http://schemas.openxmlformats.org/officeDocument/2006/relationships/image" Target="../media/image410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9.png"/><Relationship Id="rId7" Type="http://schemas.openxmlformats.org/officeDocument/2006/relationships/image" Target="../media/image8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5.png"/><Relationship Id="rId5" Type="http://schemas.openxmlformats.org/officeDocument/2006/relationships/image" Target="../media/image31.png"/><Relationship Id="rId10" Type="http://schemas.openxmlformats.org/officeDocument/2006/relationships/image" Target="../media/image34.png"/><Relationship Id="rId4" Type="http://schemas.openxmlformats.org/officeDocument/2006/relationships/image" Target="../media/image30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0.png"/><Relationship Id="rId7" Type="http://schemas.openxmlformats.org/officeDocument/2006/relationships/image" Target="../media/image8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6.png"/><Relationship Id="rId5" Type="http://schemas.openxmlformats.org/officeDocument/2006/relationships/image" Target="../media/image52.png"/><Relationship Id="rId10" Type="http://schemas.openxmlformats.org/officeDocument/2006/relationships/image" Target="../media/image55.png"/><Relationship Id="rId4" Type="http://schemas.openxmlformats.org/officeDocument/2006/relationships/image" Target="../media/image51.png"/><Relationship Id="rId9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5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7" Type="http://schemas.openxmlformats.org/officeDocument/2006/relationships/image" Target="../media/image8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1.png"/><Relationship Id="rId10" Type="http://schemas.openxmlformats.org/officeDocument/2006/relationships/image" Target="../media/image70.png"/><Relationship Id="rId9" Type="http://schemas.openxmlformats.org/officeDocument/2006/relationships/image" Target="../media/image6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3.png"/><Relationship Id="rId7" Type="http://schemas.openxmlformats.org/officeDocument/2006/relationships/image" Target="../media/image8.png"/><Relationship Id="rId12" Type="http://schemas.openxmlformats.org/officeDocument/2006/relationships/image" Target="../media/image79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8.png"/><Relationship Id="rId5" Type="http://schemas.openxmlformats.org/officeDocument/2006/relationships/image" Target="../media/image75.png"/><Relationship Id="rId10" Type="http://schemas.openxmlformats.org/officeDocument/2006/relationships/image" Target="../media/image77.png"/><Relationship Id="rId4" Type="http://schemas.openxmlformats.org/officeDocument/2006/relationships/image" Target="../media/image74.png"/><Relationship Id="rId9" Type="http://schemas.openxmlformats.org/officeDocument/2006/relationships/image" Target="../media/image7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80.png"/><Relationship Id="rId7" Type="http://schemas.openxmlformats.org/officeDocument/2006/relationships/image" Target="../media/image8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14.png"/><Relationship Id="rId9" Type="http://schemas.openxmlformats.org/officeDocument/2006/relationships/image" Target="../media/image8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9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7" Type="http://schemas.openxmlformats.org/officeDocument/2006/relationships/image" Target="../media/image8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1.png"/><Relationship Id="rId10" Type="http://schemas.openxmlformats.org/officeDocument/2006/relationships/image" Target="../media/image94.png"/><Relationship Id="rId9" Type="http://schemas.openxmlformats.org/officeDocument/2006/relationships/image" Target="../media/image9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73.png"/><Relationship Id="rId7" Type="http://schemas.openxmlformats.org/officeDocument/2006/relationships/image" Target="../media/image8.png"/><Relationship Id="rId12" Type="http://schemas.openxmlformats.org/officeDocument/2006/relationships/image" Target="../media/image79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6.png"/><Relationship Id="rId5" Type="http://schemas.openxmlformats.org/officeDocument/2006/relationships/image" Target="../media/image75.png"/><Relationship Id="rId10" Type="http://schemas.openxmlformats.org/officeDocument/2006/relationships/image" Target="../media/image77.png"/><Relationship Id="rId4" Type="http://schemas.openxmlformats.org/officeDocument/2006/relationships/image" Target="../media/image74.png"/><Relationship Id="rId9" Type="http://schemas.openxmlformats.org/officeDocument/2006/relationships/image" Target="../media/image7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97.png"/><Relationship Id="rId7" Type="http://schemas.openxmlformats.org/officeDocument/2006/relationships/image" Target="../media/image9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81.png"/><Relationship Id="rId4" Type="http://schemas.openxmlformats.org/officeDocument/2006/relationships/image" Target="../media/image14.png"/><Relationship Id="rId9" Type="http://schemas.openxmlformats.org/officeDocument/2006/relationships/image" Target="../media/image10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9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DC7CC-A6DF-560A-AA08-9FC6BC3E09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Aula de Exercicios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310A8D-47D3-1A8B-C903-46040644C2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4ECR</a:t>
            </a:r>
          </a:p>
        </p:txBody>
      </p:sp>
    </p:spTree>
    <p:extLst>
      <p:ext uri="{BB962C8B-B14F-4D97-AF65-F5344CB8AC3E}">
        <p14:creationId xmlns:p14="http://schemas.microsoft.com/office/powerpoint/2010/main" val="646530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9DC1DB-BA58-A6B8-DEDC-D24F5DC8E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Lembrando a aula passada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086193-4467-D1BF-F53D-210D98A4B623}"/>
                  </a:ext>
                </a:extLst>
              </p:cNvPr>
              <p:cNvSpPr txBox="1"/>
              <p:nvPr/>
            </p:nvSpPr>
            <p:spPr>
              <a:xfrm>
                <a:off x="1151641" y="1852468"/>
                <a:ext cx="2804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0&lt;</m:t>
                      </m:r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&lt;1,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𝑆𝑢𝑏𝑎𝑚𝑜𝑟𝑡𝑒𝑐𝑖𝑑𝑜𝑠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086193-4467-D1BF-F53D-210D98A4B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641" y="1852468"/>
                <a:ext cx="2804614" cy="276999"/>
              </a:xfrm>
              <a:prstGeom prst="rect">
                <a:avLst/>
              </a:prstGeom>
              <a:blipFill>
                <a:blip r:embed="rId2"/>
                <a:stretch>
                  <a:fillRect l="-1739" r="-1739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9117E3-F5ED-394A-46CB-862565FE40C3}"/>
                  </a:ext>
                </a:extLst>
              </p:cNvPr>
              <p:cNvSpPr txBox="1"/>
              <p:nvPr/>
            </p:nvSpPr>
            <p:spPr>
              <a:xfrm>
                <a:off x="1151641" y="2427503"/>
                <a:ext cx="37650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𝑐𝑟𝑖𝑡𝑖𝑐𝑎𝑚𝑒𝑛𝑡𝑒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𝑆𝑢𝑏𝑎𝑚𝑜𝑟𝑡𝑒𝑐𝑖𝑑𝑜𝑠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9117E3-F5ED-394A-46CB-862565FE4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641" y="2427503"/>
                <a:ext cx="3765069" cy="276999"/>
              </a:xfrm>
              <a:prstGeom prst="rect">
                <a:avLst/>
              </a:prstGeom>
              <a:blipFill>
                <a:blip r:embed="rId3"/>
                <a:stretch>
                  <a:fillRect l="-1780" r="-971" b="-326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5A8441-5B17-2CAE-535C-3CE928FBA3F1}"/>
                  </a:ext>
                </a:extLst>
              </p:cNvPr>
              <p:cNvSpPr txBox="1"/>
              <p:nvPr/>
            </p:nvSpPr>
            <p:spPr>
              <a:xfrm>
                <a:off x="1151640" y="3002538"/>
                <a:ext cx="26010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&gt;1,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𝑆𝑢𝑝𝑒𝑟𝑎𝑚𝑜𝑟𝑡𝑒𝑐𝑖𝑑𝑜𝑠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5A8441-5B17-2CAE-535C-3CE928FBA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640" y="3002538"/>
                <a:ext cx="2601033" cy="276999"/>
              </a:xfrm>
              <a:prstGeom prst="rect">
                <a:avLst/>
              </a:prstGeom>
              <a:blipFill>
                <a:blip r:embed="rId4"/>
                <a:stretch>
                  <a:fillRect l="-2810" t="-4444" r="-2576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82CF6F-C6B3-36B6-DA3B-AAF501BE5000}"/>
                  </a:ext>
                </a:extLst>
              </p:cNvPr>
              <p:cNvSpPr txBox="1"/>
              <p:nvPr/>
            </p:nvSpPr>
            <p:spPr>
              <a:xfrm>
                <a:off x="1151640" y="3594445"/>
                <a:ext cx="32360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𝑀𝑎𝑟𝑔𝑖𝑛𝑎𝑙𝑚𝑒𝑛𝑡𝑒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𝑒𝑠𝑡𝑎𝑣𝑒𝑙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82CF6F-C6B3-36B6-DA3B-AAF501BE5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640" y="3594445"/>
                <a:ext cx="3236079" cy="276999"/>
              </a:xfrm>
              <a:prstGeom prst="rect">
                <a:avLst/>
              </a:prstGeom>
              <a:blipFill>
                <a:blip r:embed="rId5"/>
                <a:stretch>
                  <a:fillRect l="-565" t="-4444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6A72571-4473-C4C6-9DC1-3F3AC9FEAAA5}"/>
                  </a:ext>
                </a:extLst>
              </p:cNvPr>
              <p:cNvSpPr txBox="1"/>
              <p:nvPr/>
            </p:nvSpPr>
            <p:spPr>
              <a:xfrm>
                <a:off x="1151640" y="4047852"/>
                <a:ext cx="21579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&lt;0, 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𝐼𝑛𝑠𝑡𝑎𝑣𝑒𝑖𝑠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6A72571-4473-C4C6-9DC1-3F3AC9FEA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640" y="4047852"/>
                <a:ext cx="2157963" cy="276999"/>
              </a:xfrm>
              <a:prstGeom prst="rect">
                <a:avLst/>
              </a:prstGeom>
              <a:blipFill>
                <a:blip r:embed="rId6"/>
                <a:stretch>
                  <a:fillRect l="-1695" r="-565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04815DB-E4B2-DD6A-B707-2956D4997173}"/>
              </a:ext>
            </a:extLst>
          </p:cNvPr>
          <p:cNvSpPr/>
          <p:nvPr/>
        </p:nvSpPr>
        <p:spPr>
          <a:xfrm>
            <a:off x="5590095" y="1318838"/>
            <a:ext cx="2328420" cy="623084"/>
          </a:xfrm>
          <a:custGeom>
            <a:avLst/>
            <a:gdLst>
              <a:gd name="connsiteX0" fmla="*/ 0 w 2328420"/>
              <a:gd name="connsiteY0" fmla="*/ 623084 h 623084"/>
              <a:gd name="connsiteX1" fmla="*/ 311084 w 2328420"/>
              <a:gd name="connsiteY1" fmla="*/ 406267 h 623084"/>
              <a:gd name="connsiteX2" fmla="*/ 641023 w 2328420"/>
              <a:gd name="connsiteY2" fmla="*/ 915 h 623084"/>
              <a:gd name="connsiteX3" fmla="*/ 876693 w 2328420"/>
              <a:gd name="connsiteY3" fmla="*/ 293146 h 623084"/>
              <a:gd name="connsiteX4" fmla="*/ 1121790 w 2328420"/>
              <a:gd name="connsiteY4" fmla="*/ 198877 h 623084"/>
              <a:gd name="connsiteX5" fmla="*/ 1272618 w 2328420"/>
              <a:gd name="connsiteY5" fmla="*/ 283719 h 623084"/>
              <a:gd name="connsiteX6" fmla="*/ 1480008 w 2328420"/>
              <a:gd name="connsiteY6" fmla="*/ 170597 h 623084"/>
              <a:gd name="connsiteX7" fmla="*/ 2328420 w 2328420"/>
              <a:gd name="connsiteY7" fmla="*/ 180024 h 623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28420" h="623084">
                <a:moveTo>
                  <a:pt x="0" y="623084"/>
                </a:moveTo>
                <a:cubicBezTo>
                  <a:pt x="102123" y="566523"/>
                  <a:pt x="204247" y="509962"/>
                  <a:pt x="311084" y="406267"/>
                </a:cubicBezTo>
                <a:cubicBezTo>
                  <a:pt x="417921" y="302572"/>
                  <a:pt x="546755" y="19768"/>
                  <a:pt x="641023" y="915"/>
                </a:cubicBezTo>
                <a:cubicBezTo>
                  <a:pt x="735291" y="-17939"/>
                  <a:pt x="796565" y="260152"/>
                  <a:pt x="876693" y="293146"/>
                </a:cubicBezTo>
                <a:cubicBezTo>
                  <a:pt x="956821" y="326140"/>
                  <a:pt x="1055803" y="200448"/>
                  <a:pt x="1121790" y="198877"/>
                </a:cubicBezTo>
                <a:cubicBezTo>
                  <a:pt x="1187777" y="197306"/>
                  <a:pt x="1212915" y="288432"/>
                  <a:pt x="1272618" y="283719"/>
                </a:cubicBezTo>
                <a:cubicBezTo>
                  <a:pt x="1332321" y="279006"/>
                  <a:pt x="1304041" y="187879"/>
                  <a:pt x="1480008" y="170597"/>
                </a:cubicBezTo>
                <a:cubicBezTo>
                  <a:pt x="1655975" y="153315"/>
                  <a:pt x="1992197" y="166669"/>
                  <a:pt x="2328420" y="18002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02B3CC8-A567-5A5A-1CDD-3ABBE2E9BD8C}"/>
              </a:ext>
            </a:extLst>
          </p:cNvPr>
          <p:cNvSpPr/>
          <p:nvPr/>
        </p:nvSpPr>
        <p:spPr>
          <a:xfrm>
            <a:off x="5316718" y="1760998"/>
            <a:ext cx="2969443" cy="812520"/>
          </a:xfrm>
          <a:custGeom>
            <a:avLst/>
            <a:gdLst>
              <a:gd name="connsiteX0" fmla="*/ 0 w 2969443"/>
              <a:gd name="connsiteY0" fmla="*/ 812520 h 812520"/>
              <a:gd name="connsiteX1" fmla="*/ 386498 w 2969443"/>
              <a:gd name="connsiteY1" fmla="*/ 727678 h 812520"/>
              <a:gd name="connsiteX2" fmla="*/ 867266 w 2969443"/>
              <a:gd name="connsiteY2" fmla="*/ 454301 h 812520"/>
              <a:gd name="connsiteX3" fmla="*/ 1319752 w 2969443"/>
              <a:gd name="connsiteY3" fmla="*/ 67802 h 812520"/>
              <a:gd name="connsiteX4" fmla="*/ 1611983 w 2969443"/>
              <a:gd name="connsiteY4" fmla="*/ 20668 h 812520"/>
              <a:gd name="connsiteX5" fmla="*/ 1866507 w 2969443"/>
              <a:gd name="connsiteY5" fmla="*/ 1814 h 812520"/>
              <a:gd name="connsiteX6" fmla="*/ 2969443 w 2969443"/>
              <a:gd name="connsiteY6" fmla="*/ 1814 h 8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69443" h="812520">
                <a:moveTo>
                  <a:pt x="0" y="812520"/>
                </a:moveTo>
                <a:cubicBezTo>
                  <a:pt x="120977" y="799950"/>
                  <a:pt x="241954" y="787381"/>
                  <a:pt x="386498" y="727678"/>
                </a:cubicBezTo>
                <a:cubicBezTo>
                  <a:pt x="531042" y="667975"/>
                  <a:pt x="711724" y="564280"/>
                  <a:pt x="867266" y="454301"/>
                </a:cubicBezTo>
                <a:cubicBezTo>
                  <a:pt x="1022808" y="344322"/>
                  <a:pt x="1195633" y="140074"/>
                  <a:pt x="1319752" y="67802"/>
                </a:cubicBezTo>
                <a:cubicBezTo>
                  <a:pt x="1443871" y="-4470"/>
                  <a:pt x="1520857" y="31666"/>
                  <a:pt x="1611983" y="20668"/>
                </a:cubicBezTo>
                <a:cubicBezTo>
                  <a:pt x="1703109" y="9670"/>
                  <a:pt x="1640264" y="4956"/>
                  <a:pt x="1866507" y="1814"/>
                </a:cubicBezTo>
                <a:cubicBezTo>
                  <a:pt x="2092750" y="-1328"/>
                  <a:pt x="2531096" y="243"/>
                  <a:pt x="2969443" y="181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E663AC6-BF36-AB01-A2EA-97E3670A0BA4}"/>
              </a:ext>
            </a:extLst>
          </p:cNvPr>
          <p:cNvSpPr/>
          <p:nvPr/>
        </p:nvSpPr>
        <p:spPr>
          <a:xfrm>
            <a:off x="5344998" y="2102177"/>
            <a:ext cx="3704734" cy="1123026"/>
          </a:xfrm>
          <a:custGeom>
            <a:avLst/>
            <a:gdLst>
              <a:gd name="connsiteX0" fmla="*/ 0 w 3704734"/>
              <a:gd name="connsiteY0" fmla="*/ 1084083 h 1123026"/>
              <a:gd name="connsiteX1" fmla="*/ 970961 w 3704734"/>
              <a:gd name="connsiteY1" fmla="*/ 1055802 h 1123026"/>
              <a:gd name="connsiteX2" fmla="*/ 1791093 w 3704734"/>
              <a:gd name="connsiteY2" fmla="*/ 461914 h 1123026"/>
              <a:gd name="connsiteX3" fmla="*/ 2205872 w 3704734"/>
              <a:gd name="connsiteY3" fmla="*/ 131976 h 1123026"/>
              <a:gd name="connsiteX4" fmla="*/ 2526383 w 3704734"/>
              <a:gd name="connsiteY4" fmla="*/ 28281 h 1123026"/>
              <a:gd name="connsiteX5" fmla="*/ 3704734 w 3704734"/>
              <a:gd name="connsiteY5" fmla="*/ 0 h 1123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04734" h="1123026">
                <a:moveTo>
                  <a:pt x="0" y="1084083"/>
                </a:moveTo>
                <a:cubicBezTo>
                  <a:pt x="336223" y="1121790"/>
                  <a:pt x="672446" y="1159497"/>
                  <a:pt x="970961" y="1055802"/>
                </a:cubicBezTo>
                <a:cubicBezTo>
                  <a:pt x="1269477" y="952107"/>
                  <a:pt x="1585275" y="615885"/>
                  <a:pt x="1791093" y="461914"/>
                </a:cubicBezTo>
                <a:cubicBezTo>
                  <a:pt x="1996911" y="307943"/>
                  <a:pt x="2083324" y="204248"/>
                  <a:pt x="2205872" y="131976"/>
                </a:cubicBezTo>
                <a:cubicBezTo>
                  <a:pt x="2328420" y="59704"/>
                  <a:pt x="2276573" y="50277"/>
                  <a:pt x="2526383" y="28281"/>
                </a:cubicBezTo>
                <a:cubicBezTo>
                  <a:pt x="2776193" y="6285"/>
                  <a:pt x="3240463" y="3142"/>
                  <a:pt x="3704734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DF4FF5-448E-095D-09DD-798CE17CC1B0}"/>
              </a:ext>
            </a:extLst>
          </p:cNvPr>
          <p:cNvSpPr/>
          <p:nvPr/>
        </p:nvSpPr>
        <p:spPr>
          <a:xfrm>
            <a:off x="5410986" y="3440614"/>
            <a:ext cx="2780907" cy="537497"/>
          </a:xfrm>
          <a:custGeom>
            <a:avLst/>
            <a:gdLst>
              <a:gd name="connsiteX0" fmla="*/ 0 w 2780907"/>
              <a:gd name="connsiteY0" fmla="*/ 537497 h 537497"/>
              <a:gd name="connsiteX1" fmla="*/ 311084 w 2780907"/>
              <a:gd name="connsiteY1" fmla="*/ 37877 h 537497"/>
              <a:gd name="connsiteX2" fmla="*/ 603315 w 2780907"/>
              <a:gd name="connsiteY2" fmla="*/ 414949 h 537497"/>
              <a:gd name="connsiteX3" fmla="*/ 857839 w 2780907"/>
              <a:gd name="connsiteY3" fmla="*/ 85011 h 537497"/>
              <a:gd name="connsiteX4" fmla="*/ 1159496 w 2780907"/>
              <a:gd name="connsiteY4" fmla="*/ 358388 h 537497"/>
              <a:gd name="connsiteX5" fmla="*/ 1423447 w 2780907"/>
              <a:gd name="connsiteY5" fmla="*/ 66157 h 537497"/>
              <a:gd name="connsiteX6" fmla="*/ 1687398 w 2780907"/>
              <a:gd name="connsiteY6" fmla="*/ 348961 h 537497"/>
              <a:gd name="connsiteX7" fmla="*/ 1875934 w 2780907"/>
              <a:gd name="connsiteY7" fmla="*/ 66157 h 537497"/>
              <a:gd name="connsiteX8" fmla="*/ 2205872 w 2780907"/>
              <a:gd name="connsiteY8" fmla="*/ 367815 h 537497"/>
              <a:gd name="connsiteX9" fmla="*/ 2403835 w 2780907"/>
              <a:gd name="connsiteY9" fmla="*/ 170 h 537497"/>
              <a:gd name="connsiteX10" fmla="*/ 2780907 w 2780907"/>
              <a:gd name="connsiteY10" fmla="*/ 330108 h 53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780907" h="537497">
                <a:moveTo>
                  <a:pt x="0" y="537497"/>
                </a:moveTo>
                <a:cubicBezTo>
                  <a:pt x="105266" y="297899"/>
                  <a:pt x="210532" y="58302"/>
                  <a:pt x="311084" y="37877"/>
                </a:cubicBezTo>
                <a:cubicBezTo>
                  <a:pt x="411637" y="17452"/>
                  <a:pt x="512189" y="407093"/>
                  <a:pt x="603315" y="414949"/>
                </a:cubicBezTo>
                <a:cubicBezTo>
                  <a:pt x="694441" y="422805"/>
                  <a:pt x="765142" y="94438"/>
                  <a:pt x="857839" y="85011"/>
                </a:cubicBezTo>
                <a:cubicBezTo>
                  <a:pt x="950536" y="75584"/>
                  <a:pt x="1065228" y="361530"/>
                  <a:pt x="1159496" y="358388"/>
                </a:cubicBezTo>
                <a:cubicBezTo>
                  <a:pt x="1253764" y="355246"/>
                  <a:pt x="1335463" y="67728"/>
                  <a:pt x="1423447" y="66157"/>
                </a:cubicBezTo>
                <a:cubicBezTo>
                  <a:pt x="1511431" y="64586"/>
                  <a:pt x="1611984" y="348961"/>
                  <a:pt x="1687398" y="348961"/>
                </a:cubicBezTo>
                <a:cubicBezTo>
                  <a:pt x="1762812" y="348961"/>
                  <a:pt x="1789522" y="63015"/>
                  <a:pt x="1875934" y="66157"/>
                </a:cubicBezTo>
                <a:cubicBezTo>
                  <a:pt x="1962346" y="69299"/>
                  <a:pt x="2117889" y="378813"/>
                  <a:pt x="2205872" y="367815"/>
                </a:cubicBezTo>
                <a:cubicBezTo>
                  <a:pt x="2293856" y="356817"/>
                  <a:pt x="2307996" y="6454"/>
                  <a:pt x="2403835" y="170"/>
                </a:cubicBezTo>
                <a:cubicBezTo>
                  <a:pt x="2499674" y="-6114"/>
                  <a:pt x="2640290" y="161997"/>
                  <a:pt x="2780907" y="33010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27983D6-0A92-AE01-419D-5BA1FD73532A}"/>
              </a:ext>
            </a:extLst>
          </p:cNvPr>
          <p:cNvSpPr/>
          <p:nvPr/>
        </p:nvSpPr>
        <p:spPr>
          <a:xfrm>
            <a:off x="3987538" y="3195687"/>
            <a:ext cx="1046375" cy="1288702"/>
          </a:xfrm>
          <a:custGeom>
            <a:avLst/>
            <a:gdLst>
              <a:gd name="connsiteX0" fmla="*/ 0 w 1046375"/>
              <a:gd name="connsiteY0" fmla="*/ 1168923 h 1288702"/>
              <a:gd name="connsiteX1" fmla="*/ 546755 w 1046375"/>
              <a:gd name="connsiteY1" fmla="*/ 1178350 h 1288702"/>
              <a:gd name="connsiteX2" fmla="*/ 1046375 w 1046375"/>
              <a:gd name="connsiteY2" fmla="*/ 0 h 1288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6375" h="1288702">
                <a:moveTo>
                  <a:pt x="0" y="1168923"/>
                </a:moveTo>
                <a:cubicBezTo>
                  <a:pt x="186179" y="1271047"/>
                  <a:pt x="372359" y="1373171"/>
                  <a:pt x="546755" y="1178350"/>
                </a:cubicBezTo>
                <a:cubicBezTo>
                  <a:pt x="721151" y="983529"/>
                  <a:pt x="883763" y="491764"/>
                  <a:pt x="1046375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7886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C496A-6934-1ED6-AE0A-15FD91DC3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Exercicio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A5A97-38F1-CDAD-59CF-EF5420D4E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Dada a funcao de transferencia abaixo: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Obtenha:</a:t>
            </a:r>
          </a:p>
          <a:p>
            <a:pPr marL="0" indent="0">
              <a:buNone/>
            </a:pPr>
            <a:r>
              <a:rPr lang="pt-BR" dirty="0"/>
              <a:t>Frequencia natural do sistema</a:t>
            </a:r>
          </a:p>
          <a:p>
            <a:pPr marL="0" indent="0">
              <a:buNone/>
            </a:pPr>
            <a:r>
              <a:rPr lang="pt-BR" dirty="0"/>
              <a:t>Fator de amortecimento</a:t>
            </a:r>
          </a:p>
          <a:p>
            <a:pPr marL="0" indent="0">
              <a:buNone/>
            </a:pPr>
            <a:r>
              <a:rPr lang="pt-BR" dirty="0"/>
              <a:t>Ganho do processo</a:t>
            </a:r>
          </a:p>
          <a:p>
            <a:pPr marL="0" indent="0">
              <a:buNone/>
            </a:pPr>
            <a:r>
              <a:rPr lang="pt-BR" dirty="0"/>
              <a:t>Tempo pico</a:t>
            </a:r>
          </a:p>
          <a:p>
            <a:pPr marL="0" indent="0">
              <a:buNone/>
            </a:pPr>
            <a:r>
              <a:rPr lang="pt-BR" dirty="0"/>
              <a:t>Maximo sobressinal</a:t>
            </a:r>
          </a:p>
          <a:p>
            <a:pPr marL="0" indent="0">
              <a:buNone/>
            </a:pPr>
            <a:r>
              <a:rPr lang="pt-BR" dirty="0"/>
              <a:t>Tempo de acomodaçao 2% e 5%</a:t>
            </a:r>
          </a:p>
          <a:p>
            <a:pPr marL="0" indent="0">
              <a:buNone/>
            </a:pPr>
            <a:r>
              <a:rPr lang="pt-BR" dirty="0"/>
              <a:t>Constante de tempo</a:t>
            </a:r>
          </a:p>
          <a:p>
            <a:pPr marL="0" indent="0">
              <a:buNone/>
            </a:pPr>
            <a:r>
              <a:rPr lang="pt-BR" dirty="0"/>
              <a:t>Resposta do sistema (ou da saida) se u(t)=1</a:t>
            </a:r>
          </a:p>
          <a:p>
            <a:pPr marL="0" indent="0">
              <a:buNone/>
            </a:pP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3781C5-9952-B436-B633-DB989097F467}"/>
                  </a:ext>
                </a:extLst>
              </p:cNvPr>
              <p:cNvSpPr txBox="1"/>
              <p:nvPr/>
            </p:nvSpPr>
            <p:spPr>
              <a:xfrm>
                <a:off x="4894082" y="2276674"/>
                <a:ext cx="3460306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0.03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+0.072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+0.01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3781C5-9952-B436-B633-DB989097F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082" y="2276674"/>
                <a:ext cx="3460306" cy="586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4983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53B3-E75E-0B6D-2A5C-ADBF0412A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35AB54-C8B1-B3FB-23A9-51F0BF9F5D32}"/>
                  </a:ext>
                </a:extLst>
              </p:cNvPr>
              <p:cNvSpPr txBox="1"/>
              <p:nvPr/>
            </p:nvSpPr>
            <p:spPr>
              <a:xfrm>
                <a:off x="1934067" y="1884241"/>
                <a:ext cx="2705100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0.03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∗1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+0.072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+0.01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35AB54-C8B1-B3FB-23A9-51F0BF9F5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4067" y="1884241"/>
                <a:ext cx="2705100" cy="586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E55EC9-C76B-EEB5-AD41-6D520E47B7A6}"/>
                  </a:ext>
                </a:extLst>
              </p:cNvPr>
              <p:cNvSpPr txBox="1"/>
              <p:nvPr/>
            </p:nvSpPr>
            <p:spPr>
              <a:xfrm>
                <a:off x="7073246" y="1898798"/>
                <a:ext cx="2384947" cy="6145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𝜁𝜔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E55EC9-C76B-EEB5-AD41-6D520E47B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246" y="1898798"/>
                <a:ext cx="2384947" cy="6145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9ADBBF63-F68B-BF0E-753D-313989AF3E88}"/>
              </a:ext>
            </a:extLst>
          </p:cNvPr>
          <p:cNvSpPr/>
          <p:nvPr/>
        </p:nvSpPr>
        <p:spPr>
          <a:xfrm>
            <a:off x="5326144" y="1970202"/>
            <a:ext cx="1319753" cy="41477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45FE05A-91DB-88D0-8517-F11AF5F380EB}"/>
              </a:ext>
            </a:extLst>
          </p:cNvPr>
          <p:cNvSpPr/>
          <p:nvPr/>
        </p:nvSpPr>
        <p:spPr>
          <a:xfrm>
            <a:off x="2894029" y="2384981"/>
            <a:ext cx="5015060" cy="698930"/>
          </a:xfrm>
          <a:custGeom>
            <a:avLst/>
            <a:gdLst>
              <a:gd name="connsiteX0" fmla="*/ 0 w 5015060"/>
              <a:gd name="connsiteY0" fmla="*/ 0 h 698930"/>
              <a:gd name="connsiteX1" fmla="*/ 3007150 w 5015060"/>
              <a:gd name="connsiteY1" fmla="*/ 697584 h 698930"/>
              <a:gd name="connsiteX2" fmla="*/ 5015060 w 5015060"/>
              <a:gd name="connsiteY2" fmla="*/ 141403 h 698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15060" h="698930">
                <a:moveTo>
                  <a:pt x="0" y="0"/>
                </a:moveTo>
                <a:cubicBezTo>
                  <a:pt x="1085653" y="337008"/>
                  <a:pt x="2171307" y="674017"/>
                  <a:pt x="3007150" y="697584"/>
                </a:cubicBezTo>
                <a:cubicBezTo>
                  <a:pt x="3842993" y="721151"/>
                  <a:pt x="4429026" y="431277"/>
                  <a:pt x="5015060" y="14140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ADABFD2-3EDE-9BA7-107E-3D3A49C605CB}"/>
              </a:ext>
            </a:extLst>
          </p:cNvPr>
          <p:cNvSpPr/>
          <p:nvPr/>
        </p:nvSpPr>
        <p:spPr>
          <a:xfrm>
            <a:off x="3657600" y="2413262"/>
            <a:ext cx="4939645" cy="906632"/>
          </a:xfrm>
          <a:custGeom>
            <a:avLst/>
            <a:gdLst>
              <a:gd name="connsiteX0" fmla="*/ 0 w 4939645"/>
              <a:gd name="connsiteY0" fmla="*/ 0 h 906632"/>
              <a:gd name="connsiteX1" fmla="*/ 3440784 w 4939645"/>
              <a:gd name="connsiteY1" fmla="*/ 904973 h 906632"/>
              <a:gd name="connsiteX2" fmla="*/ 4939645 w 4939645"/>
              <a:gd name="connsiteY2" fmla="*/ 179109 h 90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39645" h="906632">
                <a:moveTo>
                  <a:pt x="0" y="0"/>
                </a:moveTo>
                <a:cubicBezTo>
                  <a:pt x="1308755" y="437561"/>
                  <a:pt x="2617510" y="875122"/>
                  <a:pt x="3440784" y="904973"/>
                </a:cubicBezTo>
                <a:cubicBezTo>
                  <a:pt x="4264058" y="934824"/>
                  <a:pt x="4601851" y="556966"/>
                  <a:pt x="4939645" y="17910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417C6DD-EB97-7689-6397-52F03A0445CC}"/>
              </a:ext>
            </a:extLst>
          </p:cNvPr>
          <p:cNvSpPr/>
          <p:nvPr/>
        </p:nvSpPr>
        <p:spPr>
          <a:xfrm>
            <a:off x="4402318" y="2441545"/>
            <a:ext cx="4864231" cy="1463363"/>
          </a:xfrm>
          <a:custGeom>
            <a:avLst/>
            <a:gdLst>
              <a:gd name="connsiteX0" fmla="*/ 0 w 4864231"/>
              <a:gd name="connsiteY0" fmla="*/ 0 h 1463363"/>
              <a:gd name="connsiteX1" fmla="*/ 3930978 w 4864231"/>
              <a:gd name="connsiteY1" fmla="*/ 1461155 h 1463363"/>
              <a:gd name="connsiteX2" fmla="*/ 4864231 w 4864231"/>
              <a:gd name="connsiteY2" fmla="*/ 263951 h 1463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64231" h="1463363">
                <a:moveTo>
                  <a:pt x="0" y="0"/>
                </a:moveTo>
                <a:cubicBezTo>
                  <a:pt x="1560136" y="708581"/>
                  <a:pt x="3120273" y="1417163"/>
                  <a:pt x="3930978" y="1461155"/>
                </a:cubicBezTo>
                <a:cubicBezTo>
                  <a:pt x="4741683" y="1505147"/>
                  <a:pt x="4802957" y="884549"/>
                  <a:pt x="4864231" y="26395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1C2364B-3AA5-E31D-81D9-F6439400FB92}"/>
              </a:ext>
            </a:extLst>
          </p:cNvPr>
          <p:cNvSpPr/>
          <p:nvPr/>
        </p:nvSpPr>
        <p:spPr>
          <a:xfrm>
            <a:off x="3714161" y="1036909"/>
            <a:ext cx="4656841" cy="867305"/>
          </a:xfrm>
          <a:custGeom>
            <a:avLst/>
            <a:gdLst>
              <a:gd name="connsiteX0" fmla="*/ 0 w 4656841"/>
              <a:gd name="connsiteY0" fmla="*/ 839025 h 867305"/>
              <a:gd name="connsiteX1" fmla="*/ 2092750 w 4656841"/>
              <a:gd name="connsiteY1" fmla="*/ 39 h 867305"/>
              <a:gd name="connsiteX2" fmla="*/ 4656841 w 4656841"/>
              <a:gd name="connsiteY2" fmla="*/ 867305 h 867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56841" h="867305">
                <a:moveTo>
                  <a:pt x="0" y="839025"/>
                </a:moveTo>
                <a:cubicBezTo>
                  <a:pt x="658305" y="417175"/>
                  <a:pt x="1316610" y="-4674"/>
                  <a:pt x="2092750" y="39"/>
                </a:cubicBezTo>
                <a:cubicBezTo>
                  <a:pt x="2868890" y="4752"/>
                  <a:pt x="3762865" y="436028"/>
                  <a:pt x="4656841" y="86730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AA0640-A791-346E-C2D4-1F41D208D2D9}"/>
                  </a:ext>
                </a:extLst>
              </p:cNvPr>
              <p:cNvSpPr txBox="1"/>
              <p:nvPr/>
            </p:nvSpPr>
            <p:spPr>
              <a:xfrm>
                <a:off x="838200" y="3772930"/>
                <a:ext cx="1066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AA0640-A791-346E-C2D4-1F41D208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772930"/>
                <a:ext cx="1066189" cy="276999"/>
              </a:xfrm>
              <a:prstGeom prst="rect">
                <a:avLst/>
              </a:prstGeom>
              <a:blipFill>
                <a:blip r:embed="rId4"/>
                <a:stretch>
                  <a:fillRect l="-2874" t="-4444" r="-5172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Right 12">
            <a:extLst>
              <a:ext uri="{FF2B5EF4-FFF2-40B4-BE49-F238E27FC236}">
                <a16:creationId xmlns:a16="http://schemas.microsoft.com/office/drawing/2014/main" id="{A209A739-A9D6-3A0F-2932-DEA252350A4F}"/>
              </a:ext>
            </a:extLst>
          </p:cNvPr>
          <p:cNvSpPr/>
          <p:nvPr/>
        </p:nvSpPr>
        <p:spPr>
          <a:xfrm>
            <a:off x="2300140" y="3772930"/>
            <a:ext cx="663019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29891F-099F-009B-621C-0FB01549EB37}"/>
                  </a:ext>
                </a:extLst>
              </p:cNvPr>
              <p:cNvSpPr txBox="1"/>
              <p:nvPr/>
            </p:nvSpPr>
            <p:spPr>
              <a:xfrm>
                <a:off x="3126969" y="3772930"/>
                <a:ext cx="14341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=0.1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𝑟𝑎𝑑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29891F-099F-009B-621C-0FB01549E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6969" y="3772930"/>
                <a:ext cx="1434175" cy="276999"/>
              </a:xfrm>
              <a:prstGeom prst="rect">
                <a:avLst/>
              </a:prstGeom>
              <a:blipFill>
                <a:blip r:embed="rId5"/>
                <a:stretch>
                  <a:fillRect l="-2128" t="-2222" r="-2128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A495E2-1520-1F69-B8BE-4C6E19DC8798}"/>
                  </a:ext>
                </a:extLst>
              </p:cNvPr>
              <p:cNvSpPr txBox="1"/>
              <p:nvPr/>
            </p:nvSpPr>
            <p:spPr>
              <a:xfrm>
                <a:off x="615071" y="4248561"/>
                <a:ext cx="13243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𝜁𝜔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=0.072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A495E2-1520-1F69-B8BE-4C6E19DC8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71" y="4248561"/>
                <a:ext cx="1324337" cy="276999"/>
              </a:xfrm>
              <a:prstGeom prst="rect">
                <a:avLst/>
              </a:prstGeom>
              <a:blipFill>
                <a:blip r:embed="rId6"/>
                <a:stretch>
                  <a:fillRect l="-4147" r="-4147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row: Right 15">
            <a:extLst>
              <a:ext uri="{FF2B5EF4-FFF2-40B4-BE49-F238E27FC236}">
                <a16:creationId xmlns:a16="http://schemas.microsoft.com/office/drawing/2014/main" id="{5EC411E8-94F5-4AF6-B80F-3F3918B7D044}"/>
              </a:ext>
            </a:extLst>
          </p:cNvPr>
          <p:cNvSpPr/>
          <p:nvPr/>
        </p:nvSpPr>
        <p:spPr>
          <a:xfrm>
            <a:off x="2267353" y="4244964"/>
            <a:ext cx="663019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58B9327-ADB7-A86C-E8B0-A690781884B0}"/>
                  </a:ext>
                </a:extLst>
              </p:cNvPr>
              <p:cNvSpPr txBox="1"/>
              <p:nvPr/>
            </p:nvSpPr>
            <p:spPr>
              <a:xfrm>
                <a:off x="3169297" y="4184950"/>
                <a:ext cx="2716513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0.072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0.072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2∗0.1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=0.36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58B9327-ADB7-A86C-E8B0-A69078188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297" y="4184950"/>
                <a:ext cx="2716513" cy="5203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rrow: Right 17">
            <a:extLst>
              <a:ext uri="{FF2B5EF4-FFF2-40B4-BE49-F238E27FC236}">
                <a16:creationId xmlns:a16="http://schemas.microsoft.com/office/drawing/2014/main" id="{052FE5E7-B9E9-0493-2A54-0B55566DC2FB}"/>
              </a:ext>
            </a:extLst>
          </p:cNvPr>
          <p:cNvSpPr/>
          <p:nvPr/>
        </p:nvSpPr>
        <p:spPr>
          <a:xfrm>
            <a:off x="6077352" y="4333426"/>
            <a:ext cx="663019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309121-F105-EB85-4EE7-6F08247657C5}"/>
              </a:ext>
            </a:extLst>
          </p:cNvPr>
          <p:cNvSpPr txBox="1"/>
          <p:nvPr/>
        </p:nvSpPr>
        <p:spPr>
          <a:xfrm>
            <a:off x="7073246" y="4244964"/>
            <a:ext cx="1740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subamortecido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F714E22-2663-ED24-206C-8ABFC33880B1}"/>
                  </a:ext>
                </a:extLst>
              </p:cNvPr>
              <p:cNvSpPr txBox="1"/>
              <p:nvPr/>
            </p:nvSpPr>
            <p:spPr>
              <a:xfrm>
                <a:off x="7909089" y="347890"/>
                <a:ext cx="3668803" cy="381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pt-BR" dirty="0"/>
                  <a:t> é a expressao do tempo morto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F714E22-2663-ED24-206C-8ABFC3388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9089" y="347890"/>
                <a:ext cx="3668803" cy="381451"/>
              </a:xfrm>
              <a:prstGeom prst="rect">
                <a:avLst/>
              </a:prstGeom>
              <a:blipFill>
                <a:blip r:embed="rId8"/>
                <a:stretch>
                  <a:fillRect t="-4762" b="-238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2C6FEC-4304-B1CE-D435-BFCC49AE78C6}"/>
                  </a:ext>
                </a:extLst>
              </p:cNvPr>
              <p:cNvSpPr txBox="1"/>
              <p:nvPr/>
            </p:nvSpPr>
            <p:spPr>
              <a:xfrm>
                <a:off x="709125" y="4982397"/>
                <a:ext cx="6091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2C6FEC-4304-B1CE-D435-BFCC49AE7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25" y="4982397"/>
                <a:ext cx="609141" cy="276999"/>
              </a:xfrm>
              <a:prstGeom prst="rect">
                <a:avLst/>
              </a:prstGeom>
              <a:blipFill>
                <a:blip r:embed="rId9"/>
                <a:stretch>
                  <a:fillRect l="-9000" r="-9000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83C18D1-B428-D815-9376-6A58A260A7EC}"/>
                  </a:ext>
                </a:extLst>
              </p:cNvPr>
              <p:cNvSpPr txBox="1"/>
              <p:nvPr/>
            </p:nvSpPr>
            <p:spPr>
              <a:xfrm>
                <a:off x="580052" y="5550551"/>
                <a:ext cx="12134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83C18D1-B428-D815-9376-6A58A260A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52" y="5550551"/>
                <a:ext cx="1213409" cy="276999"/>
              </a:xfrm>
              <a:prstGeom prst="rect">
                <a:avLst/>
              </a:prstGeom>
              <a:blipFill>
                <a:blip r:embed="rId10"/>
                <a:stretch>
                  <a:fillRect l="-4020" t="-4444" r="-4523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rrow: Right 23">
            <a:extLst>
              <a:ext uri="{FF2B5EF4-FFF2-40B4-BE49-F238E27FC236}">
                <a16:creationId xmlns:a16="http://schemas.microsoft.com/office/drawing/2014/main" id="{15D13E89-BF00-C246-EDCF-DD383D2FAC99}"/>
              </a:ext>
            </a:extLst>
          </p:cNvPr>
          <p:cNvSpPr/>
          <p:nvPr/>
        </p:nvSpPr>
        <p:spPr>
          <a:xfrm>
            <a:off x="2089814" y="5550551"/>
            <a:ext cx="663019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E963E1-5456-1F0B-3DAF-AAC40299ECF9}"/>
                  </a:ext>
                </a:extLst>
              </p:cNvPr>
              <p:cNvSpPr txBox="1"/>
              <p:nvPr/>
            </p:nvSpPr>
            <p:spPr>
              <a:xfrm>
                <a:off x="2917910" y="5544092"/>
                <a:ext cx="2096728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0.03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0.03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E963E1-5456-1F0B-3DAF-AAC40299E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910" y="5544092"/>
                <a:ext cx="2096728" cy="52046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6381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8B7441-F2B2-99AE-ADA6-84E8D5B8A66B}"/>
                  </a:ext>
                </a:extLst>
              </p:cNvPr>
              <p:cNvSpPr txBox="1"/>
              <p:nvPr/>
            </p:nvSpPr>
            <p:spPr>
              <a:xfrm>
                <a:off x="820132" y="843698"/>
                <a:ext cx="1550553" cy="5887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ad>
                            <m:radPr>
                              <m:degHide m:val="on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8B7441-F2B2-99AE-ADA6-84E8D5B8A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2" y="843698"/>
                <a:ext cx="1550553" cy="5887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7AC5EDC-3073-AC11-6B16-F38DF53AB60B}"/>
              </a:ext>
            </a:extLst>
          </p:cNvPr>
          <p:cNvSpPr txBox="1"/>
          <p:nvPr/>
        </p:nvSpPr>
        <p:spPr>
          <a:xfrm>
            <a:off x="2884602" y="716437"/>
            <a:ext cx="3535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Tempo de pico (subamortecido)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DBF461-1F14-F7B8-C340-A598ACEBD891}"/>
                  </a:ext>
                </a:extLst>
              </p:cNvPr>
              <p:cNvSpPr txBox="1"/>
              <p:nvPr/>
            </p:nvSpPr>
            <p:spPr>
              <a:xfrm>
                <a:off x="727435" y="1740817"/>
                <a:ext cx="3206904" cy="5243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</m:t>
                          </m:r>
                          <m:rad>
                            <m:radPr>
                              <m:degHide m:val="on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0.36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=33,67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𝑠𝑒𝑔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DBF461-1F14-F7B8-C340-A598ACEBD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35" y="1740817"/>
                <a:ext cx="3206904" cy="5243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B1D48D-1E17-5542-3CB8-A6776421379B}"/>
                  </a:ext>
                </a:extLst>
              </p:cNvPr>
              <p:cNvSpPr txBox="1"/>
              <p:nvPr/>
            </p:nvSpPr>
            <p:spPr>
              <a:xfrm>
                <a:off x="681870" y="2703925"/>
                <a:ext cx="1443537" cy="5449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𝜁</m:t>
                                      </m:r>
                                    </m:e>
                                    <m:sup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sup>
                      </m:sSup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B1D48D-1E17-5542-3CB8-A67764213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70" y="2703925"/>
                <a:ext cx="1443537" cy="5449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604FE2-2313-FBE4-D49F-4B8D7525604B}"/>
                  </a:ext>
                </a:extLst>
              </p:cNvPr>
              <p:cNvSpPr txBox="1"/>
              <p:nvPr/>
            </p:nvSpPr>
            <p:spPr>
              <a:xfrm>
                <a:off x="681870" y="3415200"/>
                <a:ext cx="2394695" cy="4862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0.36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0.36</m:t>
                                      </m:r>
                                    </m:e>
                                    <m:sup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=0.68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604FE2-2313-FBE4-D49F-4B8D75256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70" y="3415200"/>
                <a:ext cx="2394695" cy="48622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449032-9709-129A-C2D0-1A05DF8371B5}"/>
                  </a:ext>
                </a:extLst>
              </p:cNvPr>
              <p:cNvSpPr txBox="1"/>
              <p:nvPr/>
            </p:nvSpPr>
            <p:spPr>
              <a:xfrm>
                <a:off x="681870" y="4398954"/>
                <a:ext cx="3846822" cy="565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(2%)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𝜔𝜁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0.1∗0.36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=111.11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𝑠𝑒𝑔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449032-9709-129A-C2D0-1A05DF837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70" y="4398954"/>
                <a:ext cx="3846822" cy="5651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761B7D-20CA-8073-16FE-27EFB5A2D9E8}"/>
                  </a:ext>
                </a:extLst>
              </p:cNvPr>
              <p:cNvSpPr txBox="1"/>
              <p:nvPr/>
            </p:nvSpPr>
            <p:spPr>
              <a:xfrm>
                <a:off x="681870" y="5179062"/>
                <a:ext cx="3718582" cy="566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(5%)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𝜔𝜁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0.1∗0.36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=83,33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𝑠𝑒𝑔</m:t>
                      </m:r>
                    </m:oMath>
                  </m:oMathPara>
                </a14:m>
                <a:endParaRPr lang="pt-BR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761B7D-20CA-8073-16FE-27EFB5A2D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70" y="5179062"/>
                <a:ext cx="3718582" cy="5661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AEBA498-6A79-BC2E-2595-9F13898094E3}"/>
              </a:ext>
            </a:extLst>
          </p:cNvPr>
          <p:cNvSpPr txBox="1"/>
          <p:nvPr/>
        </p:nvSpPr>
        <p:spPr>
          <a:xfrm>
            <a:off x="2761165" y="2879550"/>
            <a:ext cx="3846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Maximo sobressinal (subamortecido)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1C273B-1156-638C-DDED-BDCC39B3F470}"/>
              </a:ext>
            </a:extLst>
          </p:cNvPr>
          <p:cNvCxnSpPr/>
          <p:nvPr/>
        </p:nvCxnSpPr>
        <p:spPr>
          <a:xfrm>
            <a:off x="6419654" y="263951"/>
            <a:ext cx="0" cy="6202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B44D3A-5D22-330D-EA96-5AF5422C7B30}"/>
                  </a:ext>
                </a:extLst>
              </p:cNvPr>
              <p:cNvSpPr txBox="1"/>
              <p:nvPr/>
            </p:nvSpPr>
            <p:spPr>
              <a:xfrm>
                <a:off x="6815579" y="564232"/>
                <a:ext cx="749757" cy="566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𝜔𝜁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B44D3A-5D22-330D-EA96-5AF5422C7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579" y="564232"/>
                <a:ext cx="749757" cy="5661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5DAA65E-CB9E-6BE2-7FC1-DBFC2490B899}"/>
              </a:ext>
            </a:extLst>
          </p:cNvPr>
          <p:cNvSpPr txBox="1"/>
          <p:nvPr/>
        </p:nvSpPr>
        <p:spPr>
          <a:xfrm>
            <a:off x="8125905" y="633283"/>
            <a:ext cx="281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Constante de tempo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3180C2-F7B8-5116-3888-AD929E86E915}"/>
                  </a:ext>
                </a:extLst>
              </p:cNvPr>
              <p:cNvSpPr txBox="1"/>
              <p:nvPr/>
            </p:nvSpPr>
            <p:spPr>
              <a:xfrm>
                <a:off x="6873710" y="1451924"/>
                <a:ext cx="2279598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0.1∗0.36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=27,78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3180C2-F7B8-5116-3888-AD929E86E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710" y="1451924"/>
                <a:ext cx="2279598" cy="5203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9043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914700-25CF-41D9-C40C-AF1607960776}"/>
                  </a:ext>
                </a:extLst>
              </p:cNvPr>
              <p:cNvSpPr txBox="1"/>
              <p:nvPr/>
            </p:nvSpPr>
            <p:spPr>
              <a:xfrm>
                <a:off x="961534" y="777710"/>
                <a:ext cx="2390526" cy="360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𝑠𝑌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914700-25CF-41D9-C40C-AF1607960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534" y="777710"/>
                <a:ext cx="2390526" cy="360868"/>
              </a:xfrm>
              <a:prstGeom prst="rect">
                <a:avLst/>
              </a:prstGeom>
              <a:blipFill>
                <a:blip r:embed="rId2"/>
                <a:stretch>
                  <a:fillRect l="-2041" t="-1695" r="-3061" b="-152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45E027-E298-7D25-9722-2BC4409EBC3E}"/>
              </a:ext>
            </a:extLst>
          </p:cNvPr>
          <p:cNvCxnSpPr/>
          <p:nvPr/>
        </p:nvCxnSpPr>
        <p:spPr>
          <a:xfrm>
            <a:off x="5316718" y="131975"/>
            <a:ext cx="0" cy="641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3B8E2A-3887-BD8A-583A-2AB8DBFCF967}"/>
                  </a:ext>
                </a:extLst>
              </p:cNvPr>
              <p:cNvSpPr txBox="1"/>
              <p:nvPr/>
            </p:nvSpPr>
            <p:spPr>
              <a:xfrm>
                <a:off x="6289251" y="484360"/>
                <a:ext cx="2705100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0.03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+0.072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+0.01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3B8E2A-3887-BD8A-583A-2AB8DBFCF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251" y="484360"/>
                <a:ext cx="2705100" cy="586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079E69-5349-DBEE-7567-28E599748F9F}"/>
                  </a:ext>
                </a:extLst>
              </p:cNvPr>
              <p:cNvSpPr txBox="1"/>
              <p:nvPr/>
            </p:nvSpPr>
            <p:spPr>
              <a:xfrm>
                <a:off x="6356810" y="1438040"/>
                <a:ext cx="3193182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0.03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+0.072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+0.01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079E69-5349-DBEE-7567-28E599748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810" y="1438040"/>
                <a:ext cx="3193182" cy="525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03711C6-C26C-DB4C-6BE5-84DE6DA5EE25}"/>
              </a:ext>
            </a:extLst>
          </p:cNvPr>
          <p:cNvSpPr txBox="1"/>
          <p:nvPr/>
        </p:nvSpPr>
        <p:spPr>
          <a:xfrm>
            <a:off x="5901179" y="2762054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U(t)=1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5BB116C-2FFB-C816-C19B-69B91F920C6D}"/>
              </a:ext>
            </a:extLst>
          </p:cNvPr>
          <p:cNvSpPr/>
          <p:nvPr/>
        </p:nvSpPr>
        <p:spPr>
          <a:xfrm>
            <a:off x="6881567" y="2333144"/>
            <a:ext cx="2121031" cy="542031"/>
          </a:xfrm>
          <a:custGeom>
            <a:avLst/>
            <a:gdLst>
              <a:gd name="connsiteX0" fmla="*/ 0 w 2121031"/>
              <a:gd name="connsiteY0" fmla="*/ 542031 h 542031"/>
              <a:gd name="connsiteX1" fmla="*/ 933254 w 2121031"/>
              <a:gd name="connsiteY1" fmla="*/ 4703 h 542031"/>
              <a:gd name="connsiteX2" fmla="*/ 2121031 w 2121031"/>
              <a:gd name="connsiteY2" fmla="*/ 325215 h 542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1031" h="542031">
                <a:moveTo>
                  <a:pt x="0" y="542031"/>
                </a:moveTo>
                <a:cubicBezTo>
                  <a:pt x="289874" y="291435"/>
                  <a:pt x="579749" y="40839"/>
                  <a:pt x="933254" y="4703"/>
                </a:cubicBezTo>
                <a:cubicBezTo>
                  <a:pt x="1286759" y="-31433"/>
                  <a:pt x="1703895" y="146891"/>
                  <a:pt x="2121031" y="32521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186CF7-8724-0354-7BB0-E60D859CC642}"/>
              </a:ext>
            </a:extLst>
          </p:cNvPr>
          <p:cNvSpPr txBox="1"/>
          <p:nvPr/>
        </p:nvSpPr>
        <p:spPr>
          <a:xfrm>
            <a:off x="9045658" y="2505843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U(s)=1/s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37B1A1-DCBF-58E3-7586-1B10120E424F}"/>
                  </a:ext>
                </a:extLst>
              </p:cNvPr>
              <p:cNvSpPr txBox="1"/>
              <p:nvPr/>
            </p:nvSpPr>
            <p:spPr>
              <a:xfrm>
                <a:off x="6414942" y="3786884"/>
                <a:ext cx="3029291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0.03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+0.072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+0.01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37B1A1-DCBF-58E3-7586-1B10120E4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942" y="3786884"/>
                <a:ext cx="3029291" cy="5250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Right 10">
            <a:extLst>
              <a:ext uri="{FF2B5EF4-FFF2-40B4-BE49-F238E27FC236}">
                <a16:creationId xmlns:a16="http://schemas.microsoft.com/office/drawing/2014/main" id="{AA4883B0-E820-F0C8-85F0-C6E7490172A1}"/>
              </a:ext>
            </a:extLst>
          </p:cNvPr>
          <p:cNvSpPr/>
          <p:nvPr/>
        </p:nvSpPr>
        <p:spPr>
          <a:xfrm rot="14017551">
            <a:off x="3109333" y="2213398"/>
            <a:ext cx="3828325" cy="37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6C06CD-21CA-B49B-E052-A3400F06AEC8}"/>
                  </a:ext>
                </a:extLst>
              </p:cNvPr>
              <p:cNvSpPr txBox="1"/>
              <p:nvPr/>
            </p:nvSpPr>
            <p:spPr>
              <a:xfrm>
                <a:off x="445480" y="2127187"/>
                <a:ext cx="4306500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0.03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+0.072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+0.01</m:t>
                              </m:r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6C06CD-21CA-B49B-E052-A3400F06A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80" y="2127187"/>
                <a:ext cx="4306500" cy="5250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FBCE9D-B76D-B8D7-6C79-7E8B0059296C}"/>
              </a:ext>
            </a:extLst>
          </p:cNvPr>
          <p:cNvCxnSpPr/>
          <p:nvPr/>
        </p:nvCxnSpPr>
        <p:spPr>
          <a:xfrm>
            <a:off x="2156797" y="2127187"/>
            <a:ext cx="303599" cy="3786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43BACC9-FA62-D253-73A2-92FA19DDA800}"/>
              </a:ext>
            </a:extLst>
          </p:cNvPr>
          <p:cNvCxnSpPr/>
          <p:nvPr/>
        </p:nvCxnSpPr>
        <p:spPr>
          <a:xfrm>
            <a:off x="4391320" y="2346595"/>
            <a:ext cx="303599" cy="3786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4C3172-8276-9EC1-42D8-0DC9EB8BC890}"/>
                  </a:ext>
                </a:extLst>
              </p:cNvPr>
              <p:cNvSpPr txBox="1"/>
              <p:nvPr/>
            </p:nvSpPr>
            <p:spPr>
              <a:xfrm>
                <a:off x="503723" y="3051766"/>
                <a:ext cx="4069576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0.03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+0.072∗0+0.01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4C3172-8276-9EC1-42D8-0DC9EB8BC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23" y="3051766"/>
                <a:ext cx="4069576" cy="5250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2BC69B5-DC5B-B166-E3EC-D89DE6D669C3}"/>
                  </a:ext>
                </a:extLst>
              </p:cNvPr>
              <p:cNvSpPr txBox="1"/>
              <p:nvPr/>
            </p:nvSpPr>
            <p:spPr>
              <a:xfrm>
                <a:off x="503723" y="3786884"/>
                <a:ext cx="2819040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0.03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+0+0.01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2BC69B5-DC5B-B166-E3EC-D89DE6D66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23" y="3786884"/>
                <a:ext cx="2819040" cy="5250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71D1AE-D71D-BB2E-7A68-7578A45FB376}"/>
                  </a:ext>
                </a:extLst>
              </p:cNvPr>
              <p:cNvSpPr txBox="1"/>
              <p:nvPr/>
            </p:nvSpPr>
            <p:spPr>
              <a:xfrm>
                <a:off x="637269" y="4522002"/>
                <a:ext cx="15992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71D1AE-D71D-BB2E-7A68-7578A45FB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69" y="4522002"/>
                <a:ext cx="1599219" cy="276999"/>
              </a:xfrm>
              <a:prstGeom prst="rect">
                <a:avLst/>
              </a:prstGeom>
              <a:blipFill>
                <a:blip r:embed="rId9"/>
                <a:stretch>
                  <a:fillRect l="-3053" r="-3053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1113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A17426A-6E8C-DBC1-BBB4-E7360F786CDD}"/>
              </a:ext>
            </a:extLst>
          </p:cNvPr>
          <p:cNvCxnSpPr/>
          <p:nvPr/>
        </p:nvCxnSpPr>
        <p:spPr>
          <a:xfrm>
            <a:off x="603315" y="6259398"/>
            <a:ext cx="112084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59063C-617D-9E25-70A1-25B88A889549}"/>
              </a:ext>
            </a:extLst>
          </p:cNvPr>
          <p:cNvCxnSpPr/>
          <p:nvPr/>
        </p:nvCxnSpPr>
        <p:spPr>
          <a:xfrm flipV="1">
            <a:off x="1187777" y="273377"/>
            <a:ext cx="75415" cy="6353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9D5D9B7-882F-2FA1-9F68-0EFC134F45E9}"/>
              </a:ext>
            </a:extLst>
          </p:cNvPr>
          <p:cNvSpPr/>
          <p:nvPr/>
        </p:nvSpPr>
        <p:spPr>
          <a:xfrm>
            <a:off x="1225485" y="539501"/>
            <a:ext cx="10746556" cy="5663336"/>
          </a:xfrm>
          <a:custGeom>
            <a:avLst/>
            <a:gdLst>
              <a:gd name="connsiteX0" fmla="*/ 0 w 10746556"/>
              <a:gd name="connsiteY0" fmla="*/ 5663336 h 5663336"/>
              <a:gd name="connsiteX1" fmla="*/ 518474 w 10746556"/>
              <a:gd name="connsiteY1" fmla="*/ 4550973 h 5663336"/>
              <a:gd name="connsiteX2" fmla="*/ 1791092 w 10746556"/>
              <a:gd name="connsiteY2" fmla="*/ 101522 h 5663336"/>
              <a:gd name="connsiteX3" fmla="*/ 3063711 w 10746556"/>
              <a:gd name="connsiteY3" fmla="*/ 1374140 h 5663336"/>
              <a:gd name="connsiteX4" fmla="*/ 3987538 w 10746556"/>
              <a:gd name="connsiteY4" fmla="*/ 657703 h 5663336"/>
              <a:gd name="connsiteX5" fmla="*/ 4788816 w 10746556"/>
              <a:gd name="connsiteY5" fmla="*/ 1157324 h 5663336"/>
              <a:gd name="connsiteX6" fmla="*/ 5608948 w 10746556"/>
              <a:gd name="connsiteY6" fmla="*/ 799105 h 5663336"/>
              <a:gd name="connsiteX7" fmla="*/ 6476214 w 10746556"/>
              <a:gd name="connsiteY7" fmla="*/ 1034775 h 5663336"/>
              <a:gd name="connsiteX8" fmla="*/ 7296346 w 10746556"/>
              <a:gd name="connsiteY8" fmla="*/ 865093 h 5663336"/>
              <a:gd name="connsiteX9" fmla="*/ 8352148 w 10746556"/>
              <a:gd name="connsiteY9" fmla="*/ 978214 h 5663336"/>
              <a:gd name="connsiteX10" fmla="*/ 9002597 w 10746556"/>
              <a:gd name="connsiteY10" fmla="*/ 865093 h 5663336"/>
              <a:gd name="connsiteX11" fmla="*/ 10746556 w 10746556"/>
              <a:gd name="connsiteY11" fmla="*/ 883946 h 5663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746556" h="5663336">
                <a:moveTo>
                  <a:pt x="0" y="5663336"/>
                </a:moveTo>
                <a:cubicBezTo>
                  <a:pt x="109979" y="5570639"/>
                  <a:pt x="219959" y="5477942"/>
                  <a:pt x="518474" y="4550973"/>
                </a:cubicBezTo>
                <a:cubicBezTo>
                  <a:pt x="816989" y="3624004"/>
                  <a:pt x="1366886" y="630994"/>
                  <a:pt x="1791092" y="101522"/>
                </a:cubicBezTo>
                <a:cubicBezTo>
                  <a:pt x="2215298" y="-427950"/>
                  <a:pt x="2697637" y="1281443"/>
                  <a:pt x="3063711" y="1374140"/>
                </a:cubicBezTo>
                <a:cubicBezTo>
                  <a:pt x="3429785" y="1466837"/>
                  <a:pt x="3700021" y="693839"/>
                  <a:pt x="3987538" y="657703"/>
                </a:cubicBezTo>
                <a:cubicBezTo>
                  <a:pt x="4275055" y="621567"/>
                  <a:pt x="4518581" y="1133757"/>
                  <a:pt x="4788816" y="1157324"/>
                </a:cubicBezTo>
                <a:cubicBezTo>
                  <a:pt x="5059051" y="1180891"/>
                  <a:pt x="5327715" y="819530"/>
                  <a:pt x="5608948" y="799105"/>
                </a:cubicBezTo>
                <a:cubicBezTo>
                  <a:pt x="5890181" y="778680"/>
                  <a:pt x="6194981" y="1023777"/>
                  <a:pt x="6476214" y="1034775"/>
                </a:cubicBezTo>
                <a:cubicBezTo>
                  <a:pt x="6757447" y="1045773"/>
                  <a:pt x="6983690" y="874520"/>
                  <a:pt x="7296346" y="865093"/>
                </a:cubicBezTo>
                <a:cubicBezTo>
                  <a:pt x="7609002" y="855666"/>
                  <a:pt x="8067773" y="978214"/>
                  <a:pt x="8352148" y="978214"/>
                </a:cubicBezTo>
                <a:cubicBezTo>
                  <a:pt x="8636523" y="978214"/>
                  <a:pt x="8603529" y="880804"/>
                  <a:pt x="9002597" y="865093"/>
                </a:cubicBezTo>
                <a:cubicBezTo>
                  <a:pt x="9401665" y="849382"/>
                  <a:pt x="10074110" y="866664"/>
                  <a:pt x="10746556" y="8839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F3B991-7E8C-B23B-7163-8348B9370B2C}"/>
              </a:ext>
            </a:extLst>
          </p:cNvPr>
          <p:cNvCxnSpPr/>
          <p:nvPr/>
        </p:nvCxnSpPr>
        <p:spPr>
          <a:xfrm>
            <a:off x="1263192" y="1404590"/>
            <a:ext cx="1054859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9D2F50-BF08-D989-33C3-D7B214148056}"/>
              </a:ext>
            </a:extLst>
          </p:cNvPr>
          <p:cNvCxnSpPr/>
          <p:nvPr/>
        </p:nvCxnSpPr>
        <p:spPr>
          <a:xfrm flipH="1">
            <a:off x="3082565" y="539501"/>
            <a:ext cx="94268" cy="5719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73034B3-5DC1-025D-05D0-2AD2951ABD83}"/>
              </a:ext>
            </a:extLst>
          </p:cNvPr>
          <p:cNvSpPr txBox="1"/>
          <p:nvPr/>
        </p:nvSpPr>
        <p:spPr>
          <a:xfrm>
            <a:off x="10322351" y="6344239"/>
            <a:ext cx="1187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Tempo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51B5D1-ADED-9D00-F923-BC148D8C2D9A}"/>
              </a:ext>
            </a:extLst>
          </p:cNvPr>
          <p:cNvCxnSpPr/>
          <p:nvPr/>
        </p:nvCxnSpPr>
        <p:spPr>
          <a:xfrm>
            <a:off x="3176833" y="539501"/>
            <a:ext cx="0" cy="8650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AD65EE1-9A52-9F6F-2CC2-6D92CB3AAB6C}"/>
              </a:ext>
            </a:extLst>
          </p:cNvPr>
          <p:cNvSpPr txBox="1"/>
          <p:nvPr/>
        </p:nvSpPr>
        <p:spPr>
          <a:xfrm>
            <a:off x="2309567" y="829559"/>
            <a:ext cx="556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F19021-5CAC-3A01-79EF-99FE718F25BC}"/>
              </a:ext>
            </a:extLst>
          </p:cNvPr>
          <p:cNvSpPr txBox="1"/>
          <p:nvPr/>
        </p:nvSpPr>
        <p:spPr>
          <a:xfrm>
            <a:off x="2790334" y="6344239"/>
            <a:ext cx="60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Tp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B66D126-8D96-002B-B174-22364596CDEB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5213023" y="1197204"/>
            <a:ext cx="16968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432BBA0-4B6D-BC0B-5F22-B5B9C8CB0820}"/>
              </a:ext>
            </a:extLst>
          </p:cNvPr>
          <p:cNvCxnSpPr>
            <a:cxnSpLocks/>
          </p:cNvCxnSpPr>
          <p:nvPr/>
        </p:nvCxnSpPr>
        <p:spPr>
          <a:xfrm>
            <a:off x="5247588" y="1687398"/>
            <a:ext cx="16968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4165994-665A-435D-3BAE-52211CF182D6}"/>
              </a:ext>
            </a:extLst>
          </p:cNvPr>
          <p:cNvCxnSpPr>
            <a:cxnSpLocks/>
            <a:endCxn id="8" idx="5"/>
          </p:cNvCxnSpPr>
          <p:nvPr/>
        </p:nvCxnSpPr>
        <p:spPr>
          <a:xfrm>
            <a:off x="6014301" y="1197204"/>
            <a:ext cx="0" cy="4996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CD493BE-DEE0-3A85-AD13-F0F8571D0562}"/>
              </a:ext>
            </a:extLst>
          </p:cNvPr>
          <p:cNvCxnSpPr>
            <a:stCxn id="8" idx="5"/>
          </p:cNvCxnSpPr>
          <p:nvPr/>
        </p:nvCxnSpPr>
        <p:spPr>
          <a:xfrm>
            <a:off x="6014301" y="1696825"/>
            <a:ext cx="0" cy="4562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3B44E09-D70B-8D2C-E8E5-80251EC221EE}"/>
              </a:ext>
            </a:extLst>
          </p:cNvPr>
          <p:cNvCxnSpPr/>
          <p:nvPr/>
        </p:nvCxnSpPr>
        <p:spPr>
          <a:xfrm>
            <a:off x="8333295" y="1404590"/>
            <a:ext cx="17251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C642A48-B4FF-2BED-F0BA-AEB7E69EC3E1}"/>
              </a:ext>
            </a:extLst>
          </p:cNvPr>
          <p:cNvCxnSpPr/>
          <p:nvPr/>
        </p:nvCxnSpPr>
        <p:spPr>
          <a:xfrm>
            <a:off x="8531258" y="1536567"/>
            <a:ext cx="16873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3325F77-C3AD-593F-8D5D-1A641B37C80F}"/>
              </a:ext>
            </a:extLst>
          </p:cNvPr>
          <p:cNvCxnSpPr/>
          <p:nvPr/>
        </p:nvCxnSpPr>
        <p:spPr>
          <a:xfrm>
            <a:off x="9436231" y="1404590"/>
            <a:ext cx="0" cy="1319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E66B950-1162-5BC6-B380-F9DDDB030462}"/>
              </a:ext>
            </a:extLst>
          </p:cNvPr>
          <p:cNvCxnSpPr/>
          <p:nvPr/>
        </p:nvCxnSpPr>
        <p:spPr>
          <a:xfrm>
            <a:off x="9436231" y="1536567"/>
            <a:ext cx="0" cy="4666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B7F6B4B-2177-93CC-9BB4-1290E7ACA89F}"/>
              </a:ext>
            </a:extLst>
          </p:cNvPr>
          <p:cNvSpPr txBox="1"/>
          <p:nvPr/>
        </p:nvSpPr>
        <p:spPr>
          <a:xfrm>
            <a:off x="5632516" y="6344239"/>
            <a:ext cx="890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Ts(5%)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EC3D96-A904-37A4-6409-144234B02283}"/>
              </a:ext>
            </a:extLst>
          </p:cNvPr>
          <p:cNvSpPr txBox="1"/>
          <p:nvPr/>
        </p:nvSpPr>
        <p:spPr>
          <a:xfrm>
            <a:off x="8929541" y="6372400"/>
            <a:ext cx="890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Ts(2%)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B8911D-502F-AD59-EBA9-D6A5556BC6CD}"/>
              </a:ext>
            </a:extLst>
          </p:cNvPr>
          <p:cNvSpPr txBox="1"/>
          <p:nvPr/>
        </p:nvSpPr>
        <p:spPr>
          <a:xfrm>
            <a:off x="1849223" y="6336382"/>
            <a:ext cx="60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Tau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80F2440-42F5-1C33-9658-FF353DA9BD0E}"/>
              </a:ext>
            </a:extLst>
          </p:cNvPr>
          <p:cNvCxnSpPr>
            <a:cxnSpLocks/>
          </p:cNvCxnSpPr>
          <p:nvPr/>
        </p:nvCxnSpPr>
        <p:spPr>
          <a:xfrm flipV="1">
            <a:off x="2122600" y="3007151"/>
            <a:ext cx="149260" cy="33292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0C70D65-3711-C43F-3860-40262B8AE434}"/>
              </a:ext>
            </a:extLst>
          </p:cNvPr>
          <p:cNvSpPr txBox="1"/>
          <p:nvPr/>
        </p:nvSpPr>
        <p:spPr>
          <a:xfrm>
            <a:off x="633168" y="1283617"/>
            <a:ext cx="60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VF</a:t>
            </a:r>
          </a:p>
        </p:txBody>
      </p:sp>
    </p:spTree>
    <p:extLst>
      <p:ext uri="{BB962C8B-B14F-4D97-AF65-F5344CB8AC3E}">
        <p14:creationId xmlns:p14="http://schemas.microsoft.com/office/powerpoint/2010/main" val="3840473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C496A-6934-1ED6-AE0A-15FD91DC3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Exercicio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A5A97-38F1-CDAD-59CF-EF5420D4E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Dada a funcao de transferencia abaixo: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Obtenha:</a:t>
            </a:r>
          </a:p>
          <a:p>
            <a:pPr marL="0" indent="0">
              <a:buNone/>
            </a:pPr>
            <a:r>
              <a:rPr lang="pt-BR" dirty="0"/>
              <a:t>Frequencia natural do sistema</a:t>
            </a:r>
          </a:p>
          <a:p>
            <a:pPr marL="0" indent="0">
              <a:buNone/>
            </a:pPr>
            <a:r>
              <a:rPr lang="pt-BR" dirty="0"/>
              <a:t>Fator de amortecimento</a:t>
            </a:r>
          </a:p>
          <a:p>
            <a:pPr marL="0" indent="0">
              <a:buNone/>
            </a:pPr>
            <a:r>
              <a:rPr lang="pt-BR" dirty="0"/>
              <a:t>Ganho do processo</a:t>
            </a:r>
          </a:p>
          <a:p>
            <a:pPr marL="0" indent="0">
              <a:buNone/>
            </a:pPr>
            <a:r>
              <a:rPr lang="pt-BR" dirty="0"/>
              <a:t>Tempo pico</a:t>
            </a:r>
          </a:p>
          <a:p>
            <a:pPr marL="0" indent="0">
              <a:buNone/>
            </a:pPr>
            <a:r>
              <a:rPr lang="pt-BR" dirty="0"/>
              <a:t>Maximo sobressinal</a:t>
            </a:r>
          </a:p>
          <a:p>
            <a:pPr marL="0" indent="0">
              <a:buNone/>
            </a:pPr>
            <a:r>
              <a:rPr lang="pt-BR" dirty="0"/>
              <a:t>Tempo de acomodaçao 2% e 5%</a:t>
            </a:r>
          </a:p>
          <a:p>
            <a:pPr marL="0" indent="0">
              <a:buNone/>
            </a:pPr>
            <a:r>
              <a:rPr lang="pt-BR" dirty="0"/>
              <a:t>Constante de tempo</a:t>
            </a:r>
          </a:p>
          <a:p>
            <a:pPr marL="0" indent="0">
              <a:buNone/>
            </a:pPr>
            <a:r>
              <a:rPr lang="pt-BR" dirty="0"/>
              <a:t>Resposta do sistema (ou da saida) se u(t)=1</a:t>
            </a:r>
          </a:p>
          <a:p>
            <a:pPr marL="0" indent="0">
              <a:buNone/>
            </a:pP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3781C5-9952-B436-B633-DB989097F467}"/>
                  </a:ext>
                </a:extLst>
              </p:cNvPr>
              <p:cNvSpPr txBox="1"/>
              <p:nvPr/>
            </p:nvSpPr>
            <p:spPr>
              <a:xfrm>
                <a:off x="4894082" y="2276674"/>
                <a:ext cx="3588546" cy="6038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0.015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+0.15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+0.0025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3781C5-9952-B436-B633-DB989097F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082" y="2276674"/>
                <a:ext cx="3588546" cy="60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5567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53B3-E75E-0B6D-2A5C-ADBF0412A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E55EC9-C76B-EEB5-AD41-6D520E47B7A6}"/>
                  </a:ext>
                </a:extLst>
              </p:cNvPr>
              <p:cNvSpPr txBox="1"/>
              <p:nvPr/>
            </p:nvSpPr>
            <p:spPr>
              <a:xfrm>
                <a:off x="7073246" y="1898798"/>
                <a:ext cx="2384947" cy="6145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𝜁𝜔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E55EC9-C76B-EEB5-AD41-6D520E47B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246" y="1898798"/>
                <a:ext cx="2384947" cy="6145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9ADBBF63-F68B-BF0E-753D-313989AF3E88}"/>
              </a:ext>
            </a:extLst>
          </p:cNvPr>
          <p:cNvSpPr/>
          <p:nvPr/>
        </p:nvSpPr>
        <p:spPr>
          <a:xfrm>
            <a:off x="5326144" y="1970202"/>
            <a:ext cx="1319753" cy="41477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45FE05A-91DB-88D0-8517-F11AF5F380EB}"/>
              </a:ext>
            </a:extLst>
          </p:cNvPr>
          <p:cNvSpPr/>
          <p:nvPr/>
        </p:nvSpPr>
        <p:spPr>
          <a:xfrm>
            <a:off x="2894029" y="2384981"/>
            <a:ext cx="5015060" cy="698930"/>
          </a:xfrm>
          <a:custGeom>
            <a:avLst/>
            <a:gdLst>
              <a:gd name="connsiteX0" fmla="*/ 0 w 5015060"/>
              <a:gd name="connsiteY0" fmla="*/ 0 h 698930"/>
              <a:gd name="connsiteX1" fmla="*/ 3007150 w 5015060"/>
              <a:gd name="connsiteY1" fmla="*/ 697584 h 698930"/>
              <a:gd name="connsiteX2" fmla="*/ 5015060 w 5015060"/>
              <a:gd name="connsiteY2" fmla="*/ 141403 h 698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15060" h="698930">
                <a:moveTo>
                  <a:pt x="0" y="0"/>
                </a:moveTo>
                <a:cubicBezTo>
                  <a:pt x="1085653" y="337008"/>
                  <a:pt x="2171307" y="674017"/>
                  <a:pt x="3007150" y="697584"/>
                </a:cubicBezTo>
                <a:cubicBezTo>
                  <a:pt x="3842993" y="721151"/>
                  <a:pt x="4429026" y="431277"/>
                  <a:pt x="5015060" y="14140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ADABFD2-3EDE-9BA7-107E-3D3A49C605CB}"/>
              </a:ext>
            </a:extLst>
          </p:cNvPr>
          <p:cNvSpPr/>
          <p:nvPr/>
        </p:nvSpPr>
        <p:spPr>
          <a:xfrm>
            <a:off x="3657600" y="2413262"/>
            <a:ext cx="4939645" cy="906632"/>
          </a:xfrm>
          <a:custGeom>
            <a:avLst/>
            <a:gdLst>
              <a:gd name="connsiteX0" fmla="*/ 0 w 4939645"/>
              <a:gd name="connsiteY0" fmla="*/ 0 h 906632"/>
              <a:gd name="connsiteX1" fmla="*/ 3440784 w 4939645"/>
              <a:gd name="connsiteY1" fmla="*/ 904973 h 906632"/>
              <a:gd name="connsiteX2" fmla="*/ 4939645 w 4939645"/>
              <a:gd name="connsiteY2" fmla="*/ 179109 h 90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39645" h="906632">
                <a:moveTo>
                  <a:pt x="0" y="0"/>
                </a:moveTo>
                <a:cubicBezTo>
                  <a:pt x="1308755" y="437561"/>
                  <a:pt x="2617510" y="875122"/>
                  <a:pt x="3440784" y="904973"/>
                </a:cubicBezTo>
                <a:cubicBezTo>
                  <a:pt x="4264058" y="934824"/>
                  <a:pt x="4601851" y="556966"/>
                  <a:pt x="4939645" y="17910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417C6DD-EB97-7689-6397-52F03A0445CC}"/>
              </a:ext>
            </a:extLst>
          </p:cNvPr>
          <p:cNvSpPr/>
          <p:nvPr/>
        </p:nvSpPr>
        <p:spPr>
          <a:xfrm>
            <a:off x="4402318" y="2441545"/>
            <a:ext cx="4864231" cy="1463363"/>
          </a:xfrm>
          <a:custGeom>
            <a:avLst/>
            <a:gdLst>
              <a:gd name="connsiteX0" fmla="*/ 0 w 4864231"/>
              <a:gd name="connsiteY0" fmla="*/ 0 h 1463363"/>
              <a:gd name="connsiteX1" fmla="*/ 3930978 w 4864231"/>
              <a:gd name="connsiteY1" fmla="*/ 1461155 h 1463363"/>
              <a:gd name="connsiteX2" fmla="*/ 4864231 w 4864231"/>
              <a:gd name="connsiteY2" fmla="*/ 263951 h 1463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64231" h="1463363">
                <a:moveTo>
                  <a:pt x="0" y="0"/>
                </a:moveTo>
                <a:cubicBezTo>
                  <a:pt x="1560136" y="708581"/>
                  <a:pt x="3120273" y="1417163"/>
                  <a:pt x="3930978" y="1461155"/>
                </a:cubicBezTo>
                <a:cubicBezTo>
                  <a:pt x="4741683" y="1505147"/>
                  <a:pt x="4802957" y="884549"/>
                  <a:pt x="4864231" y="26395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1C2364B-3AA5-E31D-81D9-F6439400FB92}"/>
              </a:ext>
            </a:extLst>
          </p:cNvPr>
          <p:cNvSpPr/>
          <p:nvPr/>
        </p:nvSpPr>
        <p:spPr>
          <a:xfrm>
            <a:off x="3714161" y="1036909"/>
            <a:ext cx="4656841" cy="867305"/>
          </a:xfrm>
          <a:custGeom>
            <a:avLst/>
            <a:gdLst>
              <a:gd name="connsiteX0" fmla="*/ 0 w 4656841"/>
              <a:gd name="connsiteY0" fmla="*/ 839025 h 867305"/>
              <a:gd name="connsiteX1" fmla="*/ 2092750 w 4656841"/>
              <a:gd name="connsiteY1" fmla="*/ 39 h 867305"/>
              <a:gd name="connsiteX2" fmla="*/ 4656841 w 4656841"/>
              <a:gd name="connsiteY2" fmla="*/ 867305 h 867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56841" h="867305">
                <a:moveTo>
                  <a:pt x="0" y="839025"/>
                </a:moveTo>
                <a:cubicBezTo>
                  <a:pt x="658305" y="417175"/>
                  <a:pt x="1316610" y="-4674"/>
                  <a:pt x="2092750" y="39"/>
                </a:cubicBezTo>
                <a:cubicBezTo>
                  <a:pt x="2868890" y="4752"/>
                  <a:pt x="3762865" y="436028"/>
                  <a:pt x="4656841" y="86730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AA0640-A791-346E-C2D4-1F41D208D2D9}"/>
                  </a:ext>
                </a:extLst>
              </p:cNvPr>
              <p:cNvSpPr txBox="1"/>
              <p:nvPr/>
            </p:nvSpPr>
            <p:spPr>
              <a:xfrm>
                <a:off x="762784" y="3772930"/>
                <a:ext cx="13226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=0.0025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AA0640-A791-346E-C2D4-1F41D208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784" y="3772930"/>
                <a:ext cx="1322670" cy="276999"/>
              </a:xfrm>
              <a:prstGeom prst="rect">
                <a:avLst/>
              </a:prstGeom>
              <a:blipFill>
                <a:blip r:embed="rId3"/>
                <a:stretch>
                  <a:fillRect l="-2304" t="-4444" r="-4608"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Right 12">
            <a:extLst>
              <a:ext uri="{FF2B5EF4-FFF2-40B4-BE49-F238E27FC236}">
                <a16:creationId xmlns:a16="http://schemas.microsoft.com/office/drawing/2014/main" id="{A209A739-A9D6-3A0F-2932-DEA252350A4F}"/>
              </a:ext>
            </a:extLst>
          </p:cNvPr>
          <p:cNvSpPr/>
          <p:nvPr/>
        </p:nvSpPr>
        <p:spPr>
          <a:xfrm>
            <a:off x="2300140" y="3772930"/>
            <a:ext cx="663019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29891F-099F-009B-621C-0FB01549EB37}"/>
                  </a:ext>
                </a:extLst>
              </p:cNvPr>
              <p:cNvSpPr txBox="1"/>
              <p:nvPr/>
            </p:nvSpPr>
            <p:spPr>
              <a:xfrm>
                <a:off x="3126969" y="3772930"/>
                <a:ext cx="1562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=0.05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𝑟𝑎𝑑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29891F-099F-009B-621C-0FB01549E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6969" y="3772930"/>
                <a:ext cx="1562414" cy="276999"/>
              </a:xfrm>
              <a:prstGeom prst="rect">
                <a:avLst/>
              </a:prstGeom>
              <a:blipFill>
                <a:blip r:embed="rId4"/>
                <a:stretch>
                  <a:fillRect l="-1563" t="-2222" r="-1953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A495E2-1520-1F69-B8BE-4C6E19DC8798}"/>
                  </a:ext>
                </a:extLst>
              </p:cNvPr>
              <p:cNvSpPr txBox="1"/>
              <p:nvPr/>
            </p:nvSpPr>
            <p:spPr>
              <a:xfrm>
                <a:off x="615071" y="4248561"/>
                <a:ext cx="11960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𝜁𝜔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=0.15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A495E2-1520-1F69-B8BE-4C6E19DC8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71" y="4248561"/>
                <a:ext cx="1196097" cy="276999"/>
              </a:xfrm>
              <a:prstGeom prst="rect">
                <a:avLst/>
              </a:prstGeom>
              <a:blipFill>
                <a:blip r:embed="rId5"/>
                <a:stretch>
                  <a:fillRect l="-4592" r="-5102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row: Right 15">
            <a:extLst>
              <a:ext uri="{FF2B5EF4-FFF2-40B4-BE49-F238E27FC236}">
                <a16:creationId xmlns:a16="http://schemas.microsoft.com/office/drawing/2014/main" id="{5EC411E8-94F5-4AF6-B80F-3F3918B7D044}"/>
              </a:ext>
            </a:extLst>
          </p:cNvPr>
          <p:cNvSpPr/>
          <p:nvPr/>
        </p:nvSpPr>
        <p:spPr>
          <a:xfrm>
            <a:off x="2267353" y="4244964"/>
            <a:ext cx="663019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58B9327-ADB7-A86C-E8B0-A690781884B0}"/>
                  </a:ext>
                </a:extLst>
              </p:cNvPr>
              <p:cNvSpPr txBox="1"/>
              <p:nvPr/>
            </p:nvSpPr>
            <p:spPr>
              <a:xfrm>
                <a:off x="3169297" y="4184950"/>
                <a:ext cx="2668423" cy="526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0.15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0.15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2∗0.005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58B9327-ADB7-A86C-E8B0-A69078188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297" y="4184950"/>
                <a:ext cx="2668423" cy="5260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rrow: Right 17">
            <a:extLst>
              <a:ext uri="{FF2B5EF4-FFF2-40B4-BE49-F238E27FC236}">
                <a16:creationId xmlns:a16="http://schemas.microsoft.com/office/drawing/2014/main" id="{052FE5E7-B9E9-0493-2A54-0B55566DC2FB}"/>
              </a:ext>
            </a:extLst>
          </p:cNvPr>
          <p:cNvSpPr/>
          <p:nvPr/>
        </p:nvSpPr>
        <p:spPr>
          <a:xfrm>
            <a:off x="6077352" y="4333426"/>
            <a:ext cx="663019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309121-F105-EB85-4EE7-6F08247657C5}"/>
              </a:ext>
            </a:extLst>
          </p:cNvPr>
          <p:cNvSpPr txBox="1"/>
          <p:nvPr/>
        </p:nvSpPr>
        <p:spPr>
          <a:xfrm>
            <a:off x="7073245" y="4244964"/>
            <a:ext cx="193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superamortecido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F714E22-2663-ED24-206C-8ABFC33880B1}"/>
                  </a:ext>
                </a:extLst>
              </p:cNvPr>
              <p:cNvSpPr txBox="1"/>
              <p:nvPr/>
            </p:nvSpPr>
            <p:spPr>
              <a:xfrm>
                <a:off x="7909089" y="347890"/>
                <a:ext cx="3668803" cy="381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pt-BR" dirty="0"/>
                  <a:t> é a expressao do tempo morto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F714E22-2663-ED24-206C-8ABFC3388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9089" y="347890"/>
                <a:ext cx="3668803" cy="381451"/>
              </a:xfrm>
              <a:prstGeom prst="rect">
                <a:avLst/>
              </a:prstGeom>
              <a:blipFill>
                <a:blip r:embed="rId7"/>
                <a:stretch>
                  <a:fillRect t="-4762" b="-238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2C6FEC-4304-B1CE-D435-BFCC49AE78C6}"/>
                  </a:ext>
                </a:extLst>
              </p:cNvPr>
              <p:cNvSpPr txBox="1"/>
              <p:nvPr/>
            </p:nvSpPr>
            <p:spPr>
              <a:xfrm>
                <a:off x="709125" y="4982397"/>
                <a:ext cx="6091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2C6FEC-4304-B1CE-D435-BFCC49AE7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25" y="4982397"/>
                <a:ext cx="609141" cy="276999"/>
              </a:xfrm>
              <a:prstGeom prst="rect">
                <a:avLst/>
              </a:prstGeom>
              <a:blipFill>
                <a:blip r:embed="rId8"/>
                <a:stretch>
                  <a:fillRect l="-9000" r="-9000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83C18D1-B428-D815-9376-6A58A260A7EC}"/>
                  </a:ext>
                </a:extLst>
              </p:cNvPr>
              <p:cNvSpPr txBox="1"/>
              <p:nvPr/>
            </p:nvSpPr>
            <p:spPr>
              <a:xfrm>
                <a:off x="580052" y="5550551"/>
                <a:ext cx="13416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=0.015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83C18D1-B428-D815-9376-6A58A260A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52" y="5550551"/>
                <a:ext cx="1341649" cy="276999"/>
              </a:xfrm>
              <a:prstGeom prst="rect">
                <a:avLst/>
              </a:prstGeom>
              <a:blipFill>
                <a:blip r:embed="rId9"/>
                <a:stretch>
                  <a:fillRect l="-3636" t="-4444" r="-4545"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rrow: Right 23">
            <a:extLst>
              <a:ext uri="{FF2B5EF4-FFF2-40B4-BE49-F238E27FC236}">
                <a16:creationId xmlns:a16="http://schemas.microsoft.com/office/drawing/2014/main" id="{15D13E89-BF00-C246-EDCF-DD383D2FAC99}"/>
              </a:ext>
            </a:extLst>
          </p:cNvPr>
          <p:cNvSpPr/>
          <p:nvPr/>
        </p:nvSpPr>
        <p:spPr>
          <a:xfrm>
            <a:off x="2089814" y="5550551"/>
            <a:ext cx="663019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E963E1-5456-1F0B-3DAF-AAC40299ECF9}"/>
                  </a:ext>
                </a:extLst>
              </p:cNvPr>
              <p:cNvSpPr txBox="1"/>
              <p:nvPr/>
            </p:nvSpPr>
            <p:spPr>
              <a:xfrm>
                <a:off x="2917910" y="5544092"/>
                <a:ext cx="2481449" cy="526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0.015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0.0025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E963E1-5456-1F0B-3DAF-AAC40299E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910" y="5544092"/>
                <a:ext cx="2481449" cy="5260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DA021E-AB80-8EF4-46D0-063C898CE021}"/>
                  </a:ext>
                </a:extLst>
              </p:cNvPr>
              <p:cNvSpPr txBox="1"/>
              <p:nvPr/>
            </p:nvSpPr>
            <p:spPr>
              <a:xfrm>
                <a:off x="1904389" y="1840704"/>
                <a:ext cx="2833340" cy="6049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0.015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+0.15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+0.0025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DA021E-AB80-8EF4-46D0-063C898CE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389" y="1840704"/>
                <a:ext cx="2833340" cy="60497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5656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8B7441-F2B2-99AE-ADA6-84E8D5B8A66B}"/>
                  </a:ext>
                </a:extLst>
              </p:cNvPr>
              <p:cNvSpPr txBox="1"/>
              <p:nvPr/>
            </p:nvSpPr>
            <p:spPr>
              <a:xfrm>
                <a:off x="820132" y="843698"/>
                <a:ext cx="1503938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𝑁𝑎𝑜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𝑇𝑒𝑚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8B7441-F2B2-99AE-ADA6-84E8D5B8A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2" y="843698"/>
                <a:ext cx="1503938" cy="298415"/>
              </a:xfrm>
              <a:prstGeom prst="rect">
                <a:avLst/>
              </a:prstGeom>
              <a:blipFill>
                <a:blip r:embed="rId2"/>
                <a:stretch>
                  <a:fillRect l="-3659" r="-3659" b="-204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B1D48D-1E17-5542-3CB8-A6776421379B}"/>
                  </a:ext>
                </a:extLst>
              </p:cNvPr>
              <p:cNvSpPr txBox="1"/>
              <p:nvPr/>
            </p:nvSpPr>
            <p:spPr>
              <a:xfrm>
                <a:off x="820132" y="1367165"/>
                <a:ext cx="1581267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𝑁𝑎𝑜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𝑇𝑒𝑚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B1D48D-1E17-5542-3CB8-A67764213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2" y="1367165"/>
                <a:ext cx="1581267" cy="298415"/>
              </a:xfrm>
              <a:prstGeom prst="rect">
                <a:avLst/>
              </a:prstGeom>
              <a:blipFill>
                <a:blip r:embed="rId3"/>
                <a:stretch>
                  <a:fillRect l="-3089" r="-3089" b="-204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449032-9709-129A-C2D0-1A05DF8371B5}"/>
                  </a:ext>
                </a:extLst>
              </p:cNvPr>
              <p:cNvSpPr txBox="1"/>
              <p:nvPr/>
            </p:nvSpPr>
            <p:spPr>
              <a:xfrm>
                <a:off x="681870" y="2249642"/>
                <a:ext cx="3407600" cy="526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(2%)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4∗15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0.05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=1200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𝑠𝑒𝑔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449032-9709-129A-C2D0-1A05DF837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70" y="2249642"/>
                <a:ext cx="3407600" cy="5260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761B7D-20CA-8073-16FE-27EFB5A2D9E8}"/>
                  </a:ext>
                </a:extLst>
              </p:cNvPr>
              <p:cNvSpPr txBox="1"/>
              <p:nvPr/>
            </p:nvSpPr>
            <p:spPr>
              <a:xfrm>
                <a:off x="681870" y="3029750"/>
                <a:ext cx="3151119" cy="526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(5%)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3∗15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0.05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=900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𝑠𝑒𝑔</m:t>
                      </m:r>
                    </m:oMath>
                  </m:oMathPara>
                </a14:m>
                <a:endParaRPr lang="pt-BR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761B7D-20CA-8073-16FE-27EFB5A2D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70" y="3029750"/>
                <a:ext cx="3151119" cy="5260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1C273B-1156-638C-DDED-BDCC39B3F470}"/>
              </a:ext>
            </a:extLst>
          </p:cNvPr>
          <p:cNvCxnSpPr/>
          <p:nvPr/>
        </p:nvCxnSpPr>
        <p:spPr>
          <a:xfrm>
            <a:off x="6419654" y="263951"/>
            <a:ext cx="0" cy="6202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B44D3A-5D22-330D-EA96-5AF5422C7B30}"/>
                  </a:ext>
                </a:extLst>
              </p:cNvPr>
              <p:cNvSpPr txBox="1"/>
              <p:nvPr/>
            </p:nvSpPr>
            <p:spPr>
              <a:xfrm>
                <a:off x="6815579" y="564232"/>
                <a:ext cx="636776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B44D3A-5D22-330D-EA96-5AF5422C7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579" y="564232"/>
                <a:ext cx="636776" cy="5204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5DAA65E-CB9E-6BE2-7FC1-DBFC2490B899}"/>
              </a:ext>
            </a:extLst>
          </p:cNvPr>
          <p:cNvSpPr txBox="1"/>
          <p:nvPr/>
        </p:nvSpPr>
        <p:spPr>
          <a:xfrm>
            <a:off x="8125905" y="633283"/>
            <a:ext cx="281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Constante de tempo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3180C2-F7B8-5116-3888-AD929E86E915}"/>
                  </a:ext>
                </a:extLst>
              </p:cNvPr>
              <p:cNvSpPr txBox="1"/>
              <p:nvPr/>
            </p:nvSpPr>
            <p:spPr>
              <a:xfrm>
                <a:off x="6873710" y="1451924"/>
                <a:ext cx="1950149" cy="526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0.05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=300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𝑠𝑒𝑔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3180C2-F7B8-5116-3888-AD929E86E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710" y="1451924"/>
                <a:ext cx="1950149" cy="5260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C970D9D-1060-1FFA-641E-5BF0319ACB9C}"/>
              </a:ext>
            </a:extLst>
          </p:cNvPr>
          <p:cNvSpPr txBox="1"/>
          <p:nvPr/>
        </p:nvSpPr>
        <p:spPr>
          <a:xfrm>
            <a:off x="3451781" y="1639643"/>
            <a:ext cx="281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Superamortecidos!!!</a:t>
            </a:r>
          </a:p>
        </p:txBody>
      </p:sp>
    </p:spTree>
    <p:extLst>
      <p:ext uri="{BB962C8B-B14F-4D97-AF65-F5344CB8AC3E}">
        <p14:creationId xmlns:p14="http://schemas.microsoft.com/office/powerpoint/2010/main" val="3785719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914700-25CF-41D9-C40C-AF1607960776}"/>
                  </a:ext>
                </a:extLst>
              </p:cNvPr>
              <p:cNvSpPr txBox="1"/>
              <p:nvPr/>
            </p:nvSpPr>
            <p:spPr>
              <a:xfrm>
                <a:off x="961534" y="777710"/>
                <a:ext cx="2390526" cy="360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𝑠𝑌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914700-25CF-41D9-C40C-AF1607960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534" y="777710"/>
                <a:ext cx="2390526" cy="360868"/>
              </a:xfrm>
              <a:prstGeom prst="rect">
                <a:avLst/>
              </a:prstGeom>
              <a:blipFill>
                <a:blip r:embed="rId2"/>
                <a:stretch>
                  <a:fillRect l="-2041" t="-1695" r="-3061" b="-152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45E027-E298-7D25-9722-2BC4409EBC3E}"/>
              </a:ext>
            </a:extLst>
          </p:cNvPr>
          <p:cNvCxnSpPr/>
          <p:nvPr/>
        </p:nvCxnSpPr>
        <p:spPr>
          <a:xfrm>
            <a:off x="5316718" y="131975"/>
            <a:ext cx="0" cy="641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3B8E2A-3887-BD8A-583A-2AB8DBFCF967}"/>
                  </a:ext>
                </a:extLst>
              </p:cNvPr>
              <p:cNvSpPr txBox="1"/>
              <p:nvPr/>
            </p:nvSpPr>
            <p:spPr>
              <a:xfrm>
                <a:off x="6289251" y="484360"/>
                <a:ext cx="2833340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0.015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+0.15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+0.0025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3B8E2A-3887-BD8A-583A-2AB8DBFCF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251" y="484360"/>
                <a:ext cx="2833340" cy="586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079E69-5349-DBEE-7567-28E599748F9F}"/>
                  </a:ext>
                </a:extLst>
              </p:cNvPr>
              <p:cNvSpPr txBox="1"/>
              <p:nvPr/>
            </p:nvSpPr>
            <p:spPr>
              <a:xfrm>
                <a:off x="6356810" y="1438040"/>
                <a:ext cx="3321422" cy="530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0.015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+0.15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+0.0025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079E69-5349-DBEE-7567-28E599748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810" y="1438040"/>
                <a:ext cx="3321422" cy="5305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03711C6-C26C-DB4C-6BE5-84DE6DA5EE25}"/>
              </a:ext>
            </a:extLst>
          </p:cNvPr>
          <p:cNvSpPr txBox="1"/>
          <p:nvPr/>
        </p:nvSpPr>
        <p:spPr>
          <a:xfrm>
            <a:off x="5901179" y="2762054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U(t)=1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5BB116C-2FFB-C816-C19B-69B91F920C6D}"/>
              </a:ext>
            </a:extLst>
          </p:cNvPr>
          <p:cNvSpPr/>
          <p:nvPr/>
        </p:nvSpPr>
        <p:spPr>
          <a:xfrm>
            <a:off x="6881567" y="2333144"/>
            <a:ext cx="2121031" cy="542031"/>
          </a:xfrm>
          <a:custGeom>
            <a:avLst/>
            <a:gdLst>
              <a:gd name="connsiteX0" fmla="*/ 0 w 2121031"/>
              <a:gd name="connsiteY0" fmla="*/ 542031 h 542031"/>
              <a:gd name="connsiteX1" fmla="*/ 933254 w 2121031"/>
              <a:gd name="connsiteY1" fmla="*/ 4703 h 542031"/>
              <a:gd name="connsiteX2" fmla="*/ 2121031 w 2121031"/>
              <a:gd name="connsiteY2" fmla="*/ 325215 h 542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1031" h="542031">
                <a:moveTo>
                  <a:pt x="0" y="542031"/>
                </a:moveTo>
                <a:cubicBezTo>
                  <a:pt x="289874" y="291435"/>
                  <a:pt x="579749" y="40839"/>
                  <a:pt x="933254" y="4703"/>
                </a:cubicBezTo>
                <a:cubicBezTo>
                  <a:pt x="1286759" y="-31433"/>
                  <a:pt x="1703895" y="146891"/>
                  <a:pt x="2121031" y="32521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186CF7-8724-0354-7BB0-E60D859CC642}"/>
              </a:ext>
            </a:extLst>
          </p:cNvPr>
          <p:cNvSpPr txBox="1"/>
          <p:nvPr/>
        </p:nvSpPr>
        <p:spPr>
          <a:xfrm>
            <a:off x="9045658" y="2505843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U(s)=1/s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37B1A1-DCBF-58E3-7586-1B10120E424F}"/>
                  </a:ext>
                </a:extLst>
              </p:cNvPr>
              <p:cNvSpPr txBox="1"/>
              <p:nvPr/>
            </p:nvSpPr>
            <p:spPr>
              <a:xfrm>
                <a:off x="6414942" y="3786884"/>
                <a:ext cx="3157531" cy="530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0.015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+0.15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+0.0025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37B1A1-DCBF-58E3-7586-1B10120E4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942" y="3786884"/>
                <a:ext cx="3157531" cy="5305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Right 10">
            <a:extLst>
              <a:ext uri="{FF2B5EF4-FFF2-40B4-BE49-F238E27FC236}">
                <a16:creationId xmlns:a16="http://schemas.microsoft.com/office/drawing/2014/main" id="{AA4883B0-E820-F0C8-85F0-C6E7490172A1}"/>
              </a:ext>
            </a:extLst>
          </p:cNvPr>
          <p:cNvSpPr/>
          <p:nvPr/>
        </p:nvSpPr>
        <p:spPr>
          <a:xfrm rot="14017551">
            <a:off x="3109333" y="2213398"/>
            <a:ext cx="3828325" cy="37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6C06CD-21CA-B49B-E052-A3400F06AEC8}"/>
                  </a:ext>
                </a:extLst>
              </p:cNvPr>
              <p:cNvSpPr txBox="1"/>
              <p:nvPr/>
            </p:nvSpPr>
            <p:spPr>
              <a:xfrm>
                <a:off x="445480" y="2127187"/>
                <a:ext cx="4338559" cy="530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0.015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+0.15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+0.0025</m:t>
                              </m:r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6C06CD-21CA-B49B-E052-A3400F06A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80" y="2127187"/>
                <a:ext cx="4338559" cy="5305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FBCE9D-B76D-B8D7-6C79-7E8B0059296C}"/>
              </a:ext>
            </a:extLst>
          </p:cNvPr>
          <p:cNvCxnSpPr/>
          <p:nvPr/>
        </p:nvCxnSpPr>
        <p:spPr>
          <a:xfrm>
            <a:off x="2156797" y="2127187"/>
            <a:ext cx="303599" cy="3786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43BACC9-FA62-D253-73A2-92FA19DDA800}"/>
              </a:ext>
            </a:extLst>
          </p:cNvPr>
          <p:cNvCxnSpPr/>
          <p:nvPr/>
        </p:nvCxnSpPr>
        <p:spPr>
          <a:xfrm>
            <a:off x="4391320" y="2346595"/>
            <a:ext cx="303599" cy="3786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4C3172-8276-9EC1-42D8-0DC9EB8BC890}"/>
                  </a:ext>
                </a:extLst>
              </p:cNvPr>
              <p:cNvSpPr txBox="1"/>
              <p:nvPr/>
            </p:nvSpPr>
            <p:spPr>
              <a:xfrm>
                <a:off x="503723" y="3051766"/>
                <a:ext cx="4085670" cy="530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0.015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+0.15∗0+0.0025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4C3172-8276-9EC1-42D8-0DC9EB8BC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23" y="3051766"/>
                <a:ext cx="4085670" cy="5305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2BC69B5-DC5B-B166-E3EC-D89DE6D669C3}"/>
                  </a:ext>
                </a:extLst>
              </p:cNvPr>
              <p:cNvSpPr txBox="1"/>
              <p:nvPr/>
            </p:nvSpPr>
            <p:spPr>
              <a:xfrm>
                <a:off x="503723" y="3786884"/>
                <a:ext cx="3075522" cy="530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0.015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+0+0.0025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2BC69B5-DC5B-B166-E3EC-D89DE6D66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23" y="3786884"/>
                <a:ext cx="3075522" cy="5305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71D1AE-D71D-BB2E-7A68-7578A45FB376}"/>
                  </a:ext>
                </a:extLst>
              </p:cNvPr>
              <p:cNvSpPr txBox="1"/>
              <p:nvPr/>
            </p:nvSpPr>
            <p:spPr>
              <a:xfrm>
                <a:off x="637269" y="4522002"/>
                <a:ext cx="15992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71D1AE-D71D-BB2E-7A68-7578A45FB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69" y="4522002"/>
                <a:ext cx="1599220" cy="276999"/>
              </a:xfrm>
              <a:prstGeom prst="rect">
                <a:avLst/>
              </a:prstGeom>
              <a:blipFill>
                <a:blip r:embed="rId9"/>
                <a:stretch>
                  <a:fillRect l="-3053" r="-3053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2231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A17426A-6E8C-DBC1-BBB4-E7360F786CDD}"/>
              </a:ext>
            </a:extLst>
          </p:cNvPr>
          <p:cNvCxnSpPr/>
          <p:nvPr/>
        </p:nvCxnSpPr>
        <p:spPr>
          <a:xfrm>
            <a:off x="603315" y="6259398"/>
            <a:ext cx="112084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59063C-617D-9E25-70A1-25B88A889549}"/>
              </a:ext>
            </a:extLst>
          </p:cNvPr>
          <p:cNvCxnSpPr/>
          <p:nvPr/>
        </p:nvCxnSpPr>
        <p:spPr>
          <a:xfrm flipV="1">
            <a:off x="1187777" y="273377"/>
            <a:ext cx="75415" cy="6353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F3B991-7E8C-B23B-7163-8348B9370B2C}"/>
              </a:ext>
            </a:extLst>
          </p:cNvPr>
          <p:cNvCxnSpPr/>
          <p:nvPr/>
        </p:nvCxnSpPr>
        <p:spPr>
          <a:xfrm>
            <a:off x="1263192" y="1282039"/>
            <a:ext cx="1054859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73034B3-5DC1-025D-05D0-2AD2951ABD83}"/>
              </a:ext>
            </a:extLst>
          </p:cNvPr>
          <p:cNvSpPr txBox="1"/>
          <p:nvPr/>
        </p:nvSpPr>
        <p:spPr>
          <a:xfrm>
            <a:off x="10586304" y="6488668"/>
            <a:ext cx="1187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Tempo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B66D126-8D96-002B-B174-22364596CDEB}"/>
              </a:ext>
            </a:extLst>
          </p:cNvPr>
          <p:cNvCxnSpPr>
            <a:cxnSpLocks/>
          </p:cNvCxnSpPr>
          <p:nvPr/>
        </p:nvCxnSpPr>
        <p:spPr>
          <a:xfrm>
            <a:off x="9275979" y="1121791"/>
            <a:ext cx="16968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432BBA0-4B6D-BC0B-5F22-B5B9C8CB0820}"/>
              </a:ext>
            </a:extLst>
          </p:cNvPr>
          <p:cNvCxnSpPr>
            <a:cxnSpLocks/>
          </p:cNvCxnSpPr>
          <p:nvPr/>
        </p:nvCxnSpPr>
        <p:spPr>
          <a:xfrm>
            <a:off x="9310544" y="1611985"/>
            <a:ext cx="16968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4165994-665A-435D-3BAE-52211CF182D6}"/>
              </a:ext>
            </a:extLst>
          </p:cNvPr>
          <p:cNvCxnSpPr>
            <a:cxnSpLocks/>
          </p:cNvCxnSpPr>
          <p:nvPr/>
        </p:nvCxnSpPr>
        <p:spPr>
          <a:xfrm>
            <a:off x="10077257" y="1121791"/>
            <a:ext cx="0" cy="4996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CD493BE-DEE0-3A85-AD13-F0F8571D0562}"/>
              </a:ext>
            </a:extLst>
          </p:cNvPr>
          <p:cNvCxnSpPr>
            <a:cxnSpLocks/>
          </p:cNvCxnSpPr>
          <p:nvPr/>
        </p:nvCxnSpPr>
        <p:spPr>
          <a:xfrm>
            <a:off x="10077257" y="1621412"/>
            <a:ext cx="0" cy="4562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3B44E09-D70B-8D2C-E8E5-80251EC221EE}"/>
              </a:ext>
            </a:extLst>
          </p:cNvPr>
          <p:cNvCxnSpPr/>
          <p:nvPr/>
        </p:nvCxnSpPr>
        <p:spPr>
          <a:xfrm>
            <a:off x="10473182" y="1234907"/>
            <a:ext cx="17251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C642A48-B4FF-2BED-F0BA-AEB7E69EC3E1}"/>
              </a:ext>
            </a:extLst>
          </p:cNvPr>
          <p:cNvCxnSpPr/>
          <p:nvPr/>
        </p:nvCxnSpPr>
        <p:spPr>
          <a:xfrm>
            <a:off x="10671145" y="1366884"/>
            <a:ext cx="16873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3325F77-C3AD-593F-8D5D-1A641B37C80F}"/>
              </a:ext>
            </a:extLst>
          </p:cNvPr>
          <p:cNvCxnSpPr/>
          <p:nvPr/>
        </p:nvCxnSpPr>
        <p:spPr>
          <a:xfrm>
            <a:off x="11576118" y="1234907"/>
            <a:ext cx="0" cy="1319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E66B950-1162-5BC6-B380-F9DDDB030462}"/>
              </a:ext>
            </a:extLst>
          </p:cNvPr>
          <p:cNvCxnSpPr/>
          <p:nvPr/>
        </p:nvCxnSpPr>
        <p:spPr>
          <a:xfrm>
            <a:off x="11576118" y="1366884"/>
            <a:ext cx="0" cy="4666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B7F6B4B-2177-93CC-9BB4-1290E7ACA89F}"/>
              </a:ext>
            </a:extLst>
          </p:cNvPr>
          <p:cNvSpPr txBox="1"/>
          <p:nvPr/>
        </p:nvSpPr>
        <p:spPr>
          <a:xfrm>
            <a:off x="9695472" y="6268826"/>
            <a:ext cx="890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Ts(5%)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EC3D96-A904-37A4-6409-144234B02283}"/>
              </a:ext>
            </a:extLst>
          </p:cNvPr>
          <p:cNvSpPr txBox="1"/>
          <p:nvPr/>
        </p:nvSpPr>
        <p:spPr>
          <a:xfrm>
            <a:off x="11069428" y="6202717"/>
            <a:ext cx="890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Ts(2%)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B8911D-502F-AD59-EBA9-D6A5556BC6CD}"/>
              </a:ext>
            </a:extLst>
          </p:cNvPr>
          <p:cNvSpPr txBox="1"/>
          <p:nvPr/>
        </p:nvSpPr>
        <p:spPr>
          <a:xfrm>
            <a:off x="6235831" y="6235771"/>
            <a:ext cx="60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Tau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C70D65-3711-C43F-3860-40262B8AE434}"/>
              </a:ext>
            </a:extLst>
          </p:cNvPr>
          <p:cNvSpPr txBox="1"/>
          <p:nvPr/>
        </p:nvSpPr>
        <p:spPr>
          <a:xfrm>
            <a:off x="633168" y="1283617"/>
            <a:ext cx="60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VF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235C0DC-3488-695A-A25C-5311D858C58B}"/>
              </a:ext>
            </a:extLst>
          </p:cNvPr>
          <p:cNvSpPr/>
          <p:nvPr/>
        </p:nvSpPr>
        <p:spPr>
          <a:xfrm>
            <a:off x="1216058" y="1270492"/>
            <a:ext cx="10840824" cy="4998333"/>
          </a:xfrm>
          <a:custGeom>
            <a:avLst/>
            <a:gdLst>
              <a:gd name="connsiteX0" fmla="*/ 0 w 10840824"/>
              <a:gd name="connsiteY0" fmla="*/ 4998333 h 4998333"/>
              <a:gd name="connsiteX1" fmla="*/ 678730 w 10840824"/>
              <a:gd name="connsiteY1" fmla="*/ 4894638 h 4998333"/>
              <a:gd name="connsiteX2" fmla="*/ 2535810 w 10840824"/>
              <a:gd name="connsiteY2" fmla="*/ 4479859 h 4998333"/>
              <a:gd name="connsiteX3" fmla="*/ 4194928 w 10840824"/>
              <a:gd name="connsiteY3" fmla="*/ 2943289 h 4998333"/>
              <a:gd name="connsiteX4" fmla="*/ 5854045 w 10840824"/>
              <a:gd name="connsiteY4" fmla="*/ 963661 h 4998333"/>
              <a:gd name="connsiteX5" fmla="*/ 7975076 w 10840824"/>
              <a:gd name="connsiteY5" fmla="*/ 134102 h 4998333"/>
              <a:gd name="connsiteX6" fmla="*/ 10840824 w 10840824"/>
              <a:gd name="connsiteY6" fmla="*/ 11553 h 4998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0824" h="4998333">
                <a:moveTo>
                  <a:pt x="0" y="4998333"/>
                </a:moveTo>
                <a:cubicBezTo>
                  <a:pt x="128047" y="4989691"/>
                  <a:pt x="256095" y="4981050"/>
                  <a:pt x="678730" y="4894638"/>
                </a:cubicBezTo>
                <a:cubicBezTo>
                  <a:pt x="1101365" y="4808226"/>
                  <a:pt x="1949777" y="4805084"/>
                  <a:pt x="2535810" y="4479859"/>
                </a:cubicBezTo>
                <a:cubicBezTo>
                  <a:pt x="3121843" y="4154634"/>
                  <a:pt x="3641889" y="3529322"/>
                  <a:pt x="4194928" y="2943289"/>
                </a:cubicBezTo>
                <a:cubicBezTo>
                  <a:pt x="4747967" y="2357256"/>
                  <a:pt x="5224020" y="1431859"/>
                  <a:pt x="5854045" y="963661"/>
                </a:cubicBezTo>
                <a:cubicBezTo>
                  <a:pt x="6484070" y="495463"/>
                  <a:pt x="7143946" y="292787"/>
                  <a:pt x="7975076" y="134102"/>
                </a:cubicBezTo>
                <a:cubicBezTo>
                  <a:pt x="8806206" y="-24583"/>
                  <a:pt x="9823515" y="-6515"/>
                  <a:pt x="10840824" y="1155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82B8A1-2592-2BA7-BDB3-B9C34F14F5E8}"/>
              </a:ext>
            </a:extLst>
          </p:cNvPr>
          <p:cNvCxnSpPr>
            <a:stCxn id="38" idx="0"/>
          </p:cNvCxnSpPr>
          <p:nvPr/>
        </p:nvCxnSpPr>
        <p:spPr>
          <a:xfrm flipV="1">
            <a:off x="6537489" y="2648932"/>
            <a:ext cx="80127" cy="35868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49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C496A-6934-1ED6-AE0A-15FD91DC3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Exercicio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A5A97-38F1-CDAD-59CF-EF5420D4E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Dada a funcao de transferencia abaixo: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Obtenha:</a:t>
            </a:r>
          </a:p>
          <a:p>
            <a:pPr marL="0" indent="0">
              <a:buNone/>
            </a:pPr>
            <a:r>
              <a:rPr lang="pt-BR" dirty="0"/>
              <a:t>Frequencia natural do sistema</a:t>
            </a:r>
          </a:p>
          <a:p>
            <a:pPr marL="0" indent="0">
              <a:buNone/>
            </a:pPr>
            <a:r>
              <a:rPr lang="pt-BR" dirty="0"/>
              <a:t>Fator de amortecimento</a:t>
            </a:r>
          </a:p>
          <a:p>
            <a:pPr marL="0" indent="0">
              <a:buNone/>
            </a:pPr>
            <a:r>
              <a:rPr lang="pt-BR" dirty="0"/>
              <a:t>Ganho do processo</a:t>
            </a:r>
          </a:p>
          <a:p>
            <a:pPr marL="0" indent="0">
              <a:buNone/>
            </a:pPr>
            <a:r>
              <a:rPr lang="pt-BR" dirty="0"/>
              <a:t>Tempo pico</a:t>
            </a:r>
          </a:p>
          <a:p>
            <a:pPr marL="0" indent="0">
              <a:buNone/>
            </a:pPr>
            <a:r>
              <a:rPr lang="pt-BR" dirty="0"/>
              <a:t>Maximo sobressinal</a:t>
            </a:r>
          </a:p>
          <a:p>
            <a:pPr marL="0" indent="0">
              <a:buNone/>
            </a:pPr>
            <a:r>
              <a:rPr lang="pt-BR" dirty="0"/>
              <a:t>Tempo de acomodaçao 2% e 5%</a:t>
            </a:r>
          </a:p>
          <a:p>
            <a:pPr marL="0" indent="0">
              <a:buNone/>
            </a:pPr>
            <a:r>
              <a:rPr lang="pt-BR" dirty="0"/>
              <a:t>Constante de tempo</a:t>
            </a:r>
          </a:p>
          <a:p>
            <a:pPr marL="0" indent="0">
              <a:buNone/>
            </a:pPr>
            <a:r>
              <a:rPr lang="pt-BR" dirty="0"/>
              <a:t>Resposta do sistema se u(t)=0.5</a:t>
            </a:r>
          </a:p>
          <a:p>
            <a:pPr marL="0" indent="0">
              <a:buNone/>
            </a:pP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3781C5-9952-B436-B633-DB989097F467}"/>
                  </a:ext>
                </a:extLst>
              </p:cNvPr>
              <p:cNvSpPr txBox="1"/>
              <p:nvPr/>
            </p:nvSpPr>
            <p:spPr>
              <a:xfrm>
                <a:off x="4894082" y="2276674"/>
                <a:ext cx="2722925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3781C5-9952-B436-B633-DB989097F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082" y="2276674"/>
                <a:ext cx="2722925" cy="586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2558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53B3-E75E-0B6D-2A5C-ADBF0412A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E55EC9-C76B-EEB5-AD41-6D520E47B7A6}"/>
                  </a:ext>
                </a:extLst>
              </p:cNvPr>
              <p:cNvSpPr txBox="1"/>
              <p:nvPr/>
            </p:nvSpPr>
            <p:spPr>
              <a:xfrm>
                <a:off x="7073246" y="1898798"/>
                <a:ext cx="2384947" cy="6145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𝜁𝜔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E55EC9-C76B-EEB5-AD41-6D520E47B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246" y="1898798"/>
                <a:ext cx="2384947" cy="6145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9ADBBF63-F68B-BF0E-753D-313989AF3E88}"/>
              </a:ext>
            </a:extLst>
          </p:cNvPr>
          <p:cNvSpPr/>
          <p:nvPr/>
        </p:nvSpPr>
        <p:spPr>
          <a:xfrm>
            <a:off x="5326144" y="1970202"/>
            <a:ext cx="1319753" cy="41477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45FE05A-91DB-88D0-8517-F11AF5F380EB}"/>
              </a:ext>
            </a:extLst>
          </p:cNvPr>
          <p:cNvSpPr/>
          <p:nvPr/>
        </p:nvSpPr>
        <p:spPr>
          <a:xfrm>
            <a:off x="2894029" y="2384981"/>
            <a:ext cx="5015060" cy="698930"/>
          </a:xfrm>
          <a:custGeom>
            <a:avLst/>
            <a:gdLst>
              <a:gd name="connsiteX0" fmla="*/ 0 w 5015060"/>
              <a:gd name="connsiteY0" fmla="*/ 0 h 698930"/>
              <a:gd name="connsiteX1" fmla="*/ 3007150 w 5015060"/>
              <a:gd name="connsiteY1" fmla="*/ 697584 h 698930"/>
              <a:gd name="connsiteX2" fmla="*/ 5015060 w 5015060"/>
              <a:gd name="connsiteY2" fmla="*/ 141403 h 698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15060" h="698930">
                <a:moveTo>
                  <a:pt x="0" y="0"/>
                </a:moveTo>
                <a:cubicBezTo>
                  <a:pt x="1085653" y="337008"/>
                  <a:pt x="2171307" y="674017"/>
                  <a:pt x="3007150" y="697584"/>
                </a:cubicBezTo>
                <a:cubicBezTo>
                  <a:pt x="3842993" y="721151"/>
                  <a:pt x="4429026" y="431277"/>
                  <a:pt x="5015060" y="14140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ADABFD2-3EDE-9BA7-107E-3D3A49C605CB}"/>
              </a:ext>
            </a:extLst>
          </p:cNvPr>
          <p:cNvSpPr/>
          <p:nvPr/>
        </p:nvSpPr>
        <p:spPr>
          <a:xfrm>
            <a:off x="3657600" y="2413262"/>
            <a:ext cx="4939645" cy="906632"/>
          </a:xfrm>
          <a:custGeom>
            <a:avLst/>
            <a:gdLst>
              <a:gd name="connsiteX0" fmla="*/ 0 w 4939645"/>
              <a:gd name="connsiteY0" fmla="*/ 0 h 906632"/>
              <a:gd name="connsiteX1" fmla="*/ 3440784 w 4939645"/>
              <a:gd name="connsiteY1" fmla="*/ 904973 h 906632"/>
              <a:gd name="connsiteX2" fmla="*/ 4939645 w 4939645"/>
              <a:gd name="connsiteY2" fmla="*/ 179109 h 90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39645" h="906632">
                <a:moveTo>
                  <a:pt x="0" y="0"/>
                </a:moveTo>
                <a:cubicBezTo>
                  <a:pt x="1308755" y="437561"/>
                  <a:pt x="2617510" y="875122"/>
                  <a:pt x="3440784" y="904973"/>
                </a:cubicBezTo>
                <a:cubicBezTo>
                  <a:pt x="4264058" y="934824"/>
                  <a:pt x="4601851" y="556966"/>
                  <a:pt x="4939645" y="17910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417C6DD-EB97-7689-6397-52F03A0445CC}"/>
              </a:ext>
            </a:extLst>
          </p:cNvPr>
          <p:cNvSpPr/>
          <p:nvPr/>
        </p:nvSpPr>
        <p:spPr>
          <a:xfrm>
            <a:off x="4402318" y="2441545"/>
            <a:ext cx="4864231" cy="1463363"/>
          </a:xfrm>
          <a:custGeom>
            <a:avLst/>
            <a:gdLst>
              <a:gd name="connsiteX0" fmla="*/ 0 w 4864231"/>
              <a:gd name="connsiteY0" fmla="*/ 0 h 1463363"/>
              <a:gd name="connsiteX1" fmla="*/ 3930978 w 4864231"/>
              <a:gd name="connsiteY1" fmla="*/ 1461155 h 1463363"/>
              <a:gd name="connsiteX2" fmla="*/ 4864231 w 4864231"/>
              <a:gd name="connsiteY2" fmla="*/ 263951 h 1463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64231" h="1463363">
                <a:moveTo>
                  <a:pt x="0" y="0"/>
                </a:moveTo>
                <a:cubicBezTo>
                  <a:pt x="1560136" y="708581"/>
                  <a:pt x="3120273" y="1417163"/>
                  <a:pt x="3930978" y="1461155"/>
                </a:cubicBezTo>
                <a:cubicBezTo>
                  <a:pt x="4741683" y="1505147"/>
                  <a:pt x="4802957" y="884549"/>
                  <a:pt x="4864231" y="26395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1C2364B-3AA5-E31D-81D9-F6439400FB92}"/>
              </a:ext>
            </a:extLst>
          </p:cNvPr>
          <p:cNvSpPr/>
          <p:nvPr/>
        </p:nvSpPr>
        <p:spPr>
          <a:xfrm>
            <a:off x="3714161" y="1036909"/>
            <a:ext cx="4656841" cy="867305"/>
          </a:xfrm>
          <a:custGeom>
            <a:avLst/>
            <a:gdLst>
              <a:gd name="connsiteX0" fmla="*/ 0 w 4656841"/>
              <a:gd name="connsiteY0" fmla="*/ 839025 h 867305"/>
              <a:gd name="connsiteX1" fmla="*/ 2092750 w 4656841"/>
              <a:gd name="connsiteY1" fmla="*/ 39 h 867305"/>
              <a:gd name="connsiteX2" fmla="*/ 4656841 w 4656841"/>
              <a:gd name="connsiteY2" fmla="*/ 867305 h 867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56841" h="867305">
                <a:moveTo>
                  <a:pt x="0" y="839025"/>
                </a:moveTo>
                <a:cubicBezTo>
                  <a:pt x="658305" y="417175"/>
                  <a:pt x="1316610" y="-4674"/>
                  <a:pt x="2092750" y="39"/>
                </a:cubicBezTo>
                <a:cubicBezTo>
                  <a:pt x="2868890" y="4752"/>
                  <a:pt x="3762865" y="436028"/>
                  <a:pt x="4656841" y="86730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AA0640-A791-346E-C2D4-1F41D208D2D9}"/>
                  </a:ext>
                </a:extLst>
              </p:cNvPr>
              <p:cNvSpPr txBox="1"/>
              <p:nvPr/>
            </p:nvSpPr>
            <p:spPr>
              <a:xfrm>
                <a:off x="762784" y="3772930"/>
                <a:ext cx="7616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AA0640-A791-346E-C2D4-1F41D208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784" y="3772930"/>
                <a:ext cx="761619" cy="276999"/>
              </a:xfrm>
              <a:prstGeom prst="rect">
                <a:avLst/>
              </a:prstGeom>
              <a:blipFill>
                <a:blip r:embed="rId3"/>
                <a:stretch>
                  <a:fillRect l="-4000" t="-4444" r="-7200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Right 12">
            <a:extLst>
              <a:ext uri="{FF2B5EF4-FFF2-40B4-BE49-F238E27FC236}">
                <a16:creationId xmlns:a16="http://schemas.microsoft.com/office/drawing/2014/main" id="{A209A739-A9D6-3A0F-2932-DEA252350A4F}"/>
              </a:ext>
            </a:extLst>
          </p:cNvPr>
          <p:cNvSpPr/>
          <p:nvPr/>
        </p:nvSpPr>
        <p:spPr>
          <a:xfrm>
            <a:off x="2300140" y="3772930"/>
            <a:ext cx="663019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29891F-099F-009B-621C-0FB01549EB37}"/>
                  </a:ext>
                </a:extLst>
              </p:cNvPr>
              <p:cNvSpPr txBox="1"/>
              <p:nvPr/>
            </p:nvSpPr>
            <p:spPr>
              <a:xfrm>
                <a:off x="3126969" y="3772930"/>
                <a:ext cx="12578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𝑟𝑎𝑑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29891F-099F-009B-621C-0FB01549E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6969" y="3772930"/>
                <a:ext cx="1257845" cy="276999"/>
              </a:xfrm>
              <a:prstGeom prst="rect">
                <a:avLst/>
              </a:prstGeom>
              <a:blipFill>
                <a:blip r:embed="rId4"/>
                <a:stretch>
                  <a:fillRect l="-2427" t="-2222" r="-2427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A495E2-1520-1F69-B8BE-4C6E19DC8798}"/>
                  </a:ext>
                </a:extLst>
              </p:cNvPr>
              <p:cNvSpPr txBox="1"/>
              <p:nvPr/>
            </p:nvSpPr>
            <p:spPr>
              <a:xfrm>
                <a:off x="615071" y="4248561"/>
                <a:ext cx="8915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𝜁𝜔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A495E2-1520-1F69-B8BE-4C6E19DC8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71" y="4248561"/>
                <a:ext cx="891526" cy="276999"/>
              </a:xfrm>
              <a:prstGeom prst="rect">
                <a:avLst/>
              </a:prstGeom>
              <a:blipFill>
                <a:blip r:embed="rId5"/>
                <a:stretch>
                  <a:fillRect l="-6164" r="-5479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row: Right 15">
            <a:extLst>
              <a:ext uri="{FF2B5EF4-FFF2-40B4-BE49-F238E27FC236}">
                <a16:creationId xmlns:a16="http://schemas.microsoft.com/office/drawing/2014/main" id="{5EC411E8-94F5-4AF6-B80F-3F3918B7D044}"/>
              </a:ext>
            </a:extLst>
          </p:cNvPr>
          <p:cNvSpPr/>
          <p:nvPr/>
        </p:nvSpPr>
        <p:spPr>
          <a:xfrm>
            <a:off x="2267353" y="4244964"/>
            <a:ext cx="663019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58B9327-ADB7-A86C-E8B0-A690781884B0}"/>
                  </a:ext>
                </a:extLst>
              </p:cNvPr>
              <p:cNvSpPr txBox="1"/>
              <p:nvPr/>
            </p:nvSpPr>
            <p:spPr>
              <a:xfrm>
                <a:off x="3169297" y="4184950"/>
                <a:ext cx="1974579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2∗1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58B9327-ADB7-A86C-E8B0-A69078188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297" y="4184950"/>
                <a:ext cx="1974579" cy="5203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rrow: Right 17">
            <a:extLst>
              <a:ext uri="{FF2B5EF4-FFF2-40B4-BE49-F238E27FC236}">
                <a16:creationId xmlns:a16="http://schemas.microsoft.com/office/drawing/2014/main" id="{052FE5E7-B9E9-0493-2A54-0B55566DC2FB}"/>
              </a:ext>
            </a:extLst>
          </p:cNvPr>
          <p:cNvSpPr/>
          <p:nvPr/>
        </p:nvSpPr>
        <p:spPr>
          <a:xfrm>
            <a:off x="6077352" y="4333426"/>
            <a:ext cx="663019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309121-F105-EB85-4EE7-6F08247657C5}"/>
              </a:ext>
            </a:extLst>
          </p:cNvPr>
          <p:cNvSpPr txBox="1"/>
          <p:nvPr/>
        </p:nvSpPr>
        <p:spPr>
          <a:xfrm>
            <a:off x="7073245" y="4244964"/>
            <a:ext cx="1938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Criticamente subamortecido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F714E22-2663-ED24-206C-8ABFC33880B1}"/>
                  </a:ext>
                </a:extLst>
              </p:cNvPr>
              <p:cNvSpPr txBox="1"/>
              <p:nvPr/>
            </p:nvSpPr>
            <p:spPr>
              <a:xfrm>
                <a:off x="7909089" y="347890"/>
                <a:ext cx="3668803" cy="381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pt-BR" dirty="0"/>
                  <a:t> é a expressao do tempo morto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F714E22-2663-ED24-206C-8ABFC3388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9089" y="347890"/>
                <a:ext cx="3668803" cy="381451"/>
              </a:xfrm>
              <a:prstGeom prst="rect">
                <a:avLst/>
              </a:prstGeom>
              <a:blipFill>
                <a:blip r:embed="rId7"/>
                <a:stretch>
                  <a:fillRect t="-4762" b="-238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2C6FEC-4304-B1CE-D435-BFCC49AE78C6}"/>
                  </a:ext>
                </a:extLst>
              </p:cNvPr>
              <p:cNvSpPr txBox="1"/>
              <p:nvPr/>
            </p:nvSpPr>
            <p:spPr>
              <a:xfrm>
                <a:off x="709125" y="4982397"/>
                <a:ext cx="6091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2C6FEC-4304-B1CE-D435-BFCC49AE7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25" y="4982397"/>
                <a:ext cx="609141" cy="276999"/>
              </a:xfrm>
              <a:prstGeom prst="rect">
                <a:avLst/>
              </a:prstGeom>
              <a:blipFill>
                <a:blip r:embed="rId8"/>
                <a:stretch>
                  <a:fillRect l="-9000" r="-9000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83C18D1-B428-D815-9376-6A58A260A7EC}"/>
                  </a:ext>
                </a:extLst>
              </p:cNvPr>
              <p:cNvSpPr txBox="1"/>
              <p:nvPr/>
            </p:nvSpPr>
            <p:spPr>
              <a:xfrm>
                <a:off x="580052" y="5550551"/>
                <a:ext cx="9088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83C18D1-B428-D815-9376-6A58A260A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52" y="5550551"/>
                <a:ext cx="908839" cy="276999"/>
              </a:xfrm>
              <a:prstGeom prst="rect">
                <a:avLst/>
              </a:prstGeom>
              <a:blipFill>
                <a:blip r:embed="rId9"/>
                <a:stretch>
                  <a:fillRect l="-5369" t="-4444" r="-6040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rrow: Right 23">
            <a:extLst>
              <a:ext uri="{FF2B5EF4-FFF2-40B4-BE49-F238E27FC236}">
                <a16:creationId xmlns:a16="http://schemas.microsoft.com/office/drawing/2014/main" id="{15D13E89-BF00-C246-EDCF-DD383D2FAC99}"/>
              </a:ext>
            </a:extLst>
          </p:cNvPr>
          <p:cNvSpPr/>
          <p:nvPr/>
        </p:nvSpPr>
        <p:spPr>
          <a:xfrm>
            <a:off x="2089814" y="5550551"/>
            <a:ext cx="663019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E963E1-5456-1F0B-3DAF-AAC40299ECF9}"/>
                  </a:ext>
                </a:extLst>
              </p:cNvPr>
              <p:cNvSpPr txBox="1"/>
              <p:nvPr/>
            </p:nvSpPr>
            <p:spPr>
              <a:xfrm>
                <a:off x="2917910" y="5544092"/>
                <a:ext cx="1639808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E963E1-5456-1F0B-3DAF-AAC40299E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910" y="5544092"/>
                <a:ext cx="1639808" cy="5204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DA021E-AB80-8EF4-46D0-063C898CE021}"/>
                  </a:ext>
                </a:extLst>
              </p:cNvPr>
              <p:cNvSpPr txBox="1"/>
              <p:nvPr/>
            </p:nvSpPr>
            <p:spPr>
              <a:xfrm>
                <a:off x="2488085" y="1825124"/>
                <a:ext cx="1967718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DA021E-AB80-8EF4-46D0-063C898CE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85" y="1825124"/>
                <a:ext cx="1967718" cy="5866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8706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8B7441-F2B2-99AE-ADA6-84E8D5B8A66B}"/>
                  </a:ext>
                </a:extLst>
              </p:cNvPr>
              <p:cNvSpPr txBox="1"/>
              <p:nvPr/>
            </p:nvSpPr>
            <p:spPr>
              <a:xfrm>
                <a:off x="820132" y="843698"/>
                <a:ext cx="1503938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𝑁𝑎𝑜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𝑇𝑒𝑚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8B7441-F2B2-99AE-ADA6-84E8D5B8A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2" y="843698"/>
                <a:ext cx="1503938" cy="298415"/>
              </a:xfrm>
              <a:prstGeom prst="rect">
                <a:avLst/>
              </a:prstGeom>
              <a:blipFill>
                <a:blip r:embed="rId2"/>
                <a:stretch>
                  <a:fillRect l="-3659" r="-3659" b="-204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B1D48D-1E17-5542-3CB8-A6776421379B}"/>
                  </a:ext>
                </a:extLst>
              </p:cNvPr>
              <p:cNvSpPr txBox="1"/>
              <p:nvPr/>
            </p:nvSpPr>
            <p:spPr>
              <a:xfrm>
                <a:off x="820132" y="1367165"/>
                <a:ext cx="1581267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𝑁𝑎𝑜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𝑇𝑒𝑚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B1D48D-1E17-5542-3CB8-A67764213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2" y="1367165"/>
                <a:ext cx="1581267" cy="298415"/>
              </a:xfrm>
              <a:prstGeom prst="rect">
                <a:avLst/>
              </a:prstGeom>
              <a:blipFill>
                <a:blip r:embed="rId3"/>
                <a:stretch>
                  <a:fillRect l="-3089" r="-3089" b="-204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449032-9709-129A-C2D0-1A05DF8371B5}"/>
                  </a:ext>
                </a:extLst>
              </p:cNvPr>
              <p:cNvSpPr txBox="1"/>
              <p:nvPr/>
            </p:nvSpPr>
            <p:spPr>
              <a:xfrm>
                <a:off x="681870" y="2249642"/>
                <a:ext cx="2766398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(2%)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4∗1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𝑠𝑒𝑔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449032-9709-129A-C2D0-1A05DF837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70" y="2249642"/>
                <a:ext cx="2766398" cy="5204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761B7D-20CA-8073-16FE-27EFB5A2D9E8}"/>
                  </a:ext>
                </a:extLst>
              </p:cNvPr>
              <p:cNvSpPr txBox="1"/>
              <p:nvPr/>
            </p:nvSpPr>
            <p:spPr>
              <a:xfrm>
                <a:off x="681870" y="3029750"/>
                <a:ext cx="2766398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(5%)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3∗1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𝑠𝑒𝑔</m:t>
                      </m:r>
                    </m:oMath>
                  </m:oMathPara>
                </a14:m>
                <a:endParaRPr lang="pt-BR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761B7D-20CA-8073-16FE-27EFB5A2D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70" y="3029750"/>
                <a:ext cx="2766398" cy="5204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1C273B-1156-638C-DDED-BDCC39B3F470}"/>
              </a:ext>
            </a:extLst>
          </p:cNvPr>
          <p:cNvCxnSpPr/>
          <p:nvPr/>
        </p:nvCxnSpPr>
        <p:spPr>
          <a:xfrm>
            <a:off x="6419654" y="263951"/>
            <a:ext cx="0" cy="6202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B44D3A-5D22-330D-EA96-5AF5422C7B30}"/>
                  </a:ext>
                </a:extLst>
              </p:cNvPr>
              <p:cNvSpPr txBox="1"/>
              <p:nvPr/>
            </p:nvSpPr>
            <p:spPr>
              <a:xfrm>
                <a:off x="6815579" y="564232"/>
                <a:ext cx="636776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B44D3A-5D22-330D-EA96-5AF5422C7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579" y="564232"/>
                <a:ext cx="636776" cy="5204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5DAA65E-CB9E-6BE2-7FC1-DBFC2490B899}"/>
              </a:ext>
            </a:extLst>
          </p:cNvPr>
          <p:cNvSpPr txBox="1"/>
          <p:nvPr/>
        </p:nvSpPr>
        <p:spPr>
          <a:xfrm>
            <a:off x="8125905" y="633283"/>
            <a:ext cx="281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Constante de tempo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3180C2-F7B8-5116-3888-AD929E86E915}"/>
                  </a:ext>
                </a:extLst>
              </p:cNvPr>
              <p:cNvSpPr txBox="1"/>
              <p:nvPr/>
            </p:nvSpPr>
            <p:spPr>
              <a:xfrm>
                <a:off x="6873710" y="1451924"/>
                <a:ext cx="1389098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𝑠𝑒𝑔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3180C2-F7B8-5116-3888-AD929E86E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710" y="1451924"/>
                <a:ext cx="1389098" cy="5186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C970D9D-1060-1FFA-641E-5BF0319ACB9C}"/>
              </a:ext>
            </a:extLst>
          </p:cNvPr>
          <p:cNvSpPr txBox="1"/>
          <p:nvPr/>
        </p:nvSpPr>
        <p:spPr>
          <a:xfrm>
            <a:off x="3378387" y="1451924"/>
            <a:ext cx="2814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Criticamente Subamortecidos!!!</a:t>
            </a:r>
          </a:p>
        </p:txBody>
      </p:sp>
    </p:spTree>
    <p:extLst>
      <p:ext uri="{BB962C8B-B14F-4D97-AF65-F5344CB8AC3E}">
        <p14:creationId xmlns:p14="http://schemas.microsoft.com/office/powerpoint/2010/main" val="2465523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914700-25CF-41D9-C40C-AF1607960776}"/>
                  </a:ext>
                </a:extLst>
              </p:cNvPr>
              <p:cNvSpPr txBox="1"/>
              <p:nvPr/>
            </p:nvSpPr>
            <p:spPr>
              <a:xfrm>
                <a:off x="961534" y="777710"/>
                <a:ext cx="2390526" cy="360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𝑠𝑌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914700-25CF-41D9-C40C-AF1607960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534" y="777710"/>
                <a:ext cx="2390526" cy="360868"/>
              </a:xfrm>
              <a:prstGeom prst="rect">
                <a:avLst/>
              </a:prstGeom>
              <a:blipFill>
                <a:blip r:embed="rId2"/>
                <a:stretch>
                  <a:fillRect l="-2041" t="-1695" r="-3061" b="-152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45E027-E298-7D25-9722-2BC4409EBC3E}"/>
              </a:ext>
            </a:extLst>
          </p:cNvPr>
          <p:cNvCxnSpPr/>
          <p:nvPr/>
        </p:nvCxnSpPr>
        <p:spPr>
          <a:xfrm>
            <a:off x="5316718" y="131975"/>
            <a:ext cx="0" cy="641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3B8E2A-3887-BD8A-583A-2AB8DBFCF967}"/>
                  </a:ext>
                </a:extLst>
              </p:cNvPr>
              <p:cNvSpPr txBox="1"/>
              <p:nvPr/>
            </p:nvSpPr>
            <p:spPr>
              <a:xfrm>
                <a:off x="6289251" y="484360"/>
                <a:ext cx="1967718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3B8E2A-3887-BD8A-583A-2AB8DBFCF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251" y="484360"/>
                <a:ext cx="1967718" cy="586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079E69-5349-DBEE-7567-28E599748F9F}"/>
                  </a:ext>
                </a:extLst>
              </p:cNvPr>
              <p:cNvSpPr txBox="1"/>
              <p:nvPr/>
            </p:nvSpPr>
            <p:spPr>
              <a:xfrm>
                <a:off x="6356810" y="1438040"/>
                <a:ext cx="2455800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079E69-5349-DBEE-7567-28E599748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810" y="1438040"/>
                <a:ext cx="2455800" cy="525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03711C6-C26C-DB4C-6BE5-84DE6DA5EE25}"/>
              </a:ext>
            </a:extLst>
          </p:cNvPr>
          <p:cNvSpPr txBox="1"/>
          <p:nvPr/>
        </p:nvSpPr>
        <p:spPr>
          <a:xfrm>
            <a:off x="5901179" y="2762054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U(t)=0.5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5BB116C-2FFB-C816-C19B-69B91F920C6D}"/>
              </a:ext>
            </a:extLst>
          </p:cNvPr>
          <p:cNvSpPr/>
          <p:nvPr/>
        </p:nvSpPr>
        <p:spPr>
          <a:xfrm>
            <a:off x="6881567" y="2333144"/>
            <a:ext cx="2121031" cy="542031"/>
          </a:xfrm>
          <a:custGeom>
            <a:avLst/>
            <a:gdLst>
              <a:gd name="connsiteX0" fmla="*/ 0 w 2121031"/>
              <a:gd name="connsiteY0" fmla="*/ 542031 h 542031"/>
              <a:gd name="connsiteX1" fmla="*/ 933254 w 2121031"/>
              <a:gd name="connsiteY1" fmla="*/ 4703 h 542031"/>
              <a:gd name="connsiteX2" fmla="*/ 2121031 w 2121031"/>
              <a:gd name="connsiteY2" fmla="*/ 325215 h 542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1031" h="542031">
                <a:moveTo>
                  <a:pt x="0" y="542031"/>
                </a:moveTo>
                <a:cubicBezTo>
                  <a:pt x="289874" y="291435"/>
                  <a:pt x="579749" y="40839"/>
                  <a:pt x="933254" y="4703"/>
                </a:cubicBezTo>
                <a:cubicBezTo>
                  <a:pt x="1286759" y="-31433"/>
                  <a:pt x="1703895" y="146891"/>
                  <a:pt x="2121031" y="32521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186CF7-8724-0354-7BB0-E60D859CC642}"/>
              </a:ext>
            </a:extLst>
          </p:cNvPr>
          <p:cNvSpPr txBox="1"/>
          <p:nvPr/>
        </p:nvSpPr>
        <p:spPr>
          <a:xfrm>
            <a:off x="9045657" y="2505843"/>
            <a:ext cx="1210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U(s)=0.5/s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37B1A1-DCBF-58E3-7586-1B10120E424F}"/>
                  </a:ext>
                </a:extLst>
              </p:cNvPr>
              <p:cNvSpPr txBox="1"/>
              <p:nvPr/>
            </p:nvSpPr>
            <p:spPr>
              <a:xfrm>
                <a:off x="6414942" y="3786884"/>
                <a:ext cx="2468240" cy="530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37B1A1-DCBF-58E3-7586-1B10120E4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942" y="3786884"/>
                <a:ext cx="2468240" cy="5305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Right 10">
            <a:extLst>
              <a:ext uri="{FF2B5EF4-FFF2-40B4-BE49-F238E27FC236}">
                <a16:creationId xmlns:a16="http://schemas.microsoft.com/office/drawing/2014/main" id="{AA4883B0-E820-F0C8-85F0-C6E7490172A1}"/>
              </a:ext>
            </a:extLst>
          </p:cNvPr>
          <p:cNvSpPr/>
          <p:nvPr/>
        </p:nvSpPr>
        <p:spPr>
          <a:xfrm rot="14017551">
            <a:off x="3109333" y="2213398"/>
            <a:ext cx="3828325" cy="37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6C06CD-21CA-B49B-E052-A3400F06AEC8}"/>
                  </a:ext>
                </a:extLst>
              </p:cNvPr>
              <p:cNvSpPr txBox="1"/>
              <p:nvPr/>
            </p:nvSpPr>
            <p:spPr>
              <a:xfrm>
                <a:off x="445480" y="2127187"/>
                <a:ext cx="3649269" cy="530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6C06CD-21CA-B49B-E052-A3400F06A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80" y="2127187"/>
                <a:ext cx="3649269" cy="5305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FBCE9D-B76D-B8D7-6C79-7E8B0059296C}"/>
              </a:ext>
            </a:extLst>
          </p:cNvPr>
          <p:cNvCxnSpPr/>
          <p:nvPr/>
        </p:nvCxnSpPr>
        <p:spPr>
          <a:xfrm>
            <a:off x="2101572" y="2203156"/>
            <a:ext cx="303599" cy="3786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43BACC9-FA62-D253-73A2-92FA19DDA800}"/>
              </a:ext>
            </a:extLst>
          </p:cNvPr>
          <p:cNvCxnSpPr/>
          <p:nvPr/>
        </p:nvCxnSpPr>
        <p:spPr>
          <a:xfrm>
            <a:off x="3791150" y="2505860"/>
            <a:ext cx="303599" cy="3786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4C3172-8276-9EC1-42D8-0DC9EB8BC890}"/>
                  </a:ext>
                </a:extLst>
              </p:cNvPr>
              <p:cNvSpPr txBox="1"/>
              <p:nvPr/>
            </p:nvSpPr>
            <p:spPr>
              <a:xfrm>
                <a:off x="503723" y="3051766"/>
                <a:ext cx="3220049" cy="530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3∗0.5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+2∗0+1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4C3172-8276-9EC1-42D8-0DC9EB8BC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23" y="3051766"/>
                <a:ext cx="3220049" cy="5305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2BC69B5-DC5B-B166-E3EC-D89DE6D669C3}"/>
                  </a:ext>
                </a:extLst>
              </p:cNvPr>
              <p:cNvSpPr txBox="1"/>
              <p:nvPr/>
            </p:nvSpPr>
            <p:spPr>
              <a:xfrm>
                <a:off x="503723" y="3786884"/>
                <a:ext cx="2514470" cy="530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1.5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+0+1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2BC69B5-DC5B-B166-E3EC-D89DE6D66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23" y="3786884"/>
                <a:ext cx="2514470" cy="5305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71D1AE-D71D-BB2E-7A68-7578A45FB376}"/>
                  </a:ext>
                </a:extLst>
              </p:cNvPr>
              <p:cNvSpPr txBox="1"/>
              <p:nvPr/>
            </p:nvSpPr>
            <p:spPr>
              <a:xfrm>
                <a:off x="637269" y="4522002"/>
                <a:ext cx="17755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71D1AE-D71D-BB2E-7A68-7578A45FB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69" y="4522002"/>
                <a:ext cx="1775551" cy="276999"/>
              </a:xfrm>
              <a:prstGeom prst="rect">
                <a:avLst/>
              </a:prstGeom>
              <a:blipFill>
                <a:blip r:embed="rId9"/>
                <a:stretch>
                  <a:fillRect l="-2749" r="-3093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7460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A17426A-6E8C-DBC1-BBB4-E7360F786CDD}"/>
              </a:ext>
            </a:extLst>
          </p:cNvPr>
          <p:cNvCxnSpPr/>
          <p:nvPr/>
        </p:nvCxnSpPr>
        <p:spPr>
          <a:xfrm>
            <a:off x="603315" y="6259398"/>
            <a:ext cx="112084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59063C-617D-9E25-70A1-25B88A889549}"/>
              </a:ext>
            </a:extLst>
          </p:cNvPr>
          <p:cNvCxnSpPr/>
          <p:nvPr/>
        </p:nvCxnSpPr>
        <p:spPr>
          <a:xfrm flipV="1">
            <a:off x="1187777" y="273377"/>
            <a:ext cx="75415" cy="6353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F3B991-7E8C-B23B-7163-8348B9370B2C}"/>
              </a:ext>
            </a:extLst>
          </p:cNvPr>
          <p:cNvCxnSpPr/>
          <p:nvPr/>
        </p:nvCxnSpPr>
        <p:spPr>
          <a:xfrm>
            <a:off x="1263192" y="1282039"/>
            <a:ext cx="1054859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73034B3-5DC1-025D-05D0-2AD2951ABD83}"/>
              </a:ext>
            </a:extLst>
          </p:cNvPr>
          <p:cNvSpPr txBox="1"/>
          <p:nvPr/>
        </p:nvSpPr>
        <p:spPr>
          <a:xfrm>
            <a:off x="10133818" y="6488668"/>
            <a:ext cx="1187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Tempo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B66D126-8D96-002B-B174-22364596CDEB}"/>
              </a:ext>
            </a:extLst>
          </p:cNvPr>
          <p:cNvCxnSpPr>
            <a:cxnSpLocks/>
          </p:cNvCxnSpPr>
          <p:nvPr/>
        </p:nvCxnSpPr>
        <p:spPr>
          <a:xfrm>
            <a:off x="7711130" y="1121791"/>
            <a:ext cx="16968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432BBA0-4B6D-BC0B-5F22-B5B9C8CB0820}"/>
              </a:ext>
            </a:extLst>
          </p:cNvPr>
          <p:cNvCxnSpPr>
            <a:cxnSpLocks/>
          </p:cNvCxnSpPr>
          <p:nvPr/>
        </p:nvCxnSpPr>
        <p:spPr>
          <a:xfrm>
            <a:off x="7745695" y="1611985"/>
            <a:ext cx="16968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4165994-665A-435D-3BAE-52211CF182D6}"/>
              </a:ext>
            </a:extLst>
          </p:cNvPr>
          <p:cNvCxnSpPr>
            <a:cxnSpLocks/>
          </p:cNvCxnSpPr>
          <p:nvPr/>
        </p:nvCxnSpPr>
        <p:spPr>
          <a:xfrm>
            <a:off x="8512408" y="1121791"/>
            <a:ext cx="0" cy="4996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CD493BE-DEE0-3A85-AD13-F0F8571D0562}"/>
              </a:ext>
            </a:extLst>
          </p:cNvPr>
          <p:cNvCxnSpPr>
            <a:cxnSpLocks/>
          </p:cNvCxnSpPr>
          <p:nvPr/>
        </p:nvCxnSpPr>
        <p:spPr>
          <a:xfrm>
            <a:off x="8512408" y="1621412"/>
            <a:ext cx="0" cy="4562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3B44E09-D70B-8D2C-E8E5-80251EC221EE}"/>
              </a:ext>
            </a:extLst>
          </p:cNvPr>
          <p:cNvCxnSpPr/>
          <p:nvPr/>
        </p:nvCxnSpPr>
        <p:spPr>
          <a:xfrm>
            <a:off x="10020696" y="1234907"/>
            <a:ext cx="17251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C642A48-B4FF-2BED-F0BA-AEB7E69EC3E1}"/>
              </a:ext>
            </a:extLst>
          </p:cNvPr>
          <p:cNvCxnSpPr/>
          <p:nvPr/>
        </p:nvCxnSpPr>
        <p:spPr>
          <a:xfrm>
            <a:off x="10218659" y="1366884"/>
            <a:ext cx="16873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3325F77-C3AD-593F-8D5D-1A641B37C80F}"/>
              </a:ext>
            </a:extLst>
          </p:cNvPr>
          <p:cNvCxnSpPr/>
          <p:nvPr/>
        </p:nvCxnSpPr>
        <p:spPr>
          <a:xfrm>
            <a:off x="11123632" y="1234907"/>
            <a:ext cx="0" cy="1319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E66B950-1162-5BC6-B380-F9DDDB030462}"/>
              </a:ext>
            </a:extLst>
          </p:cNvPr>
          <p:cNvCxnSpPr/>
          <p:nvPr/>
        </p:nvCxnSpPr>
        <p:spPr>
          <a:xfrm>
            <a:off x="11123632" y="1366884"/>
            <a:ext cx="0" cy="4666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B7F6B4B-2177-93CC-9BB4-1290E7ACA89F}"/>
              </a:ext>
            </a:extLst>
          </p:cNvPr>
          <p:cNvSpPr txBox="1"/>
          <p:nvPr/>
        </p:nvSpPr>
        <p:spPr>
          <a:xfrm>
            <a:off x="8130623" y="6268826"/>
            <a:ext cx="890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Ts(5%)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EC3D96-A904-37A4-6409-144234B02283}"/>
              </a:ext>
            </a:extLst>
          </p:cNvPr>
          <p:cNvSpPr txBox="1"/>
          <p:nvPr/>
        </p:nvSpPr>
        <p:spPr>
          <a:xfrm>
            <a:off x="10616942" y="6202717"/>
            <a:ext cx="890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Ts(2%)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B8911D-502F-AD59-EBA9-D6A5556BC6CD}"/>
              </a:ext>
            </a:extLst>
          </p:cNvPr>
          <p:cNvSpPr txBox="1"/>
          <p:nvPr/>
        </p:nvSpPr>
        <p:spPr>
          <a:xfrm>
            <a:off x="4539008" y="6235771"/>
            <a:ext cx="60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Tau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C70D65-3711-C43F-3860-40262B8AE434}"/>
              </a:ext>
            </a:extLst>
          </p:cNvPr>
          <p:cNvSpPr txBox="1"/>
          <p:nvPr/>
        </p:nvSpPr>
        <p:spPr>
          <a:xfrm>
            <a:off x="633168" y="1283617"/>
            <a:ext cx="60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VF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82B8A1-2592-2BA7-BDB3-B9C34F14F5E8}"/>
              </a:ext>
            </a:extLst>
          </p:cNvPr>
          <p:cNvCxnSpPr>
            <a:stCxn id="38" idx="0"/>
          </p:cNvCxnSpPr>
          <p:nvPr/>
        </p:nvCxnSpPr>
        <p:spPr>
          <a:xfrm flipV="1">
            <a:off x="4840666" y="2648932"/>
            <a:ext cx="80127" cy="35868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A5F1CC4-E19F-85E4-5FFD-7BEB7FB0E7A6}"/>
              </a:ext>
            </a:extLst>
          </p:cNvPr>
          <p:cNvSpPr/>
          <p:nvPr/>
        </p:nvSpPr>
        <p:spPr>
          <a:xfrm>
            <a:off x="1197204" y="1260275"/>
            <a:ext cx="10821971" cy="5001420"/>
          </a:xfrm>
          <a:custGeom>
            <a:avLst/>
            <a:gdLst>
              <a:gd name="connsiteX0" fmla="*/ 0 w 10821971"/>
              <a:gd name="connsiteY0" fmla="*/ 4970843 h 5001420"/>
              <a:gd name="connsiteX1" fmla="*/ 923827 w 10821971"/>
              <a:gd name="connsiteY1" fmla="*/ 4829440 h 5001420"/>
              <a:gd name="connsiteX2" fmla="*/ 2215299 w 10821971"/>
              <a:gd name="connsiteY2" fmla="*/ 3651090 h 5001420"/>
              <a:gd name="connsiteX3" fmla="*/ 3638747 w 10821971"/>
              <a:gd name="connsiteY3" fmla="*/ 1492352 h 5001420"/>
              <a:gd name="connsiteX4" fmla="*/ 5194169 w 10821971"/>
              <a:gd name="connsiteY4" fmla="*/ 248014 h 5001420"/>
              <a:gd name="connsiteX5" fmla="*/ 6108569 w 10821971"/>
              <a:gd name="connsiteY5" fmla="*/ 21770 h 5001420"/>
              <a:gd name="connsiteX6" fmla="*/ 10821971 w 10821971"/>
              <a:gd name="connsiteY6" fmla="*/ 21770 h 500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21971" h="5001420">
                <a:moveTo>
                  <a:pt x="0" y="4970843"/>
                </a:moveTo>
                <a:cubicBezTo>
                  <a:pt x="277305" y="5010121"/>
                  <a:pt x="554611" y="5049399"/>
                  <a:pt x="923827" y="4829440"/>
                </a:cubicBezTo>
                <a:cubicBezTo>
                  <a:pt x="1293044" y="4609481"/>
                  <a:pt x="1762812" y="4207271"/>
                  <a:pt x="2215299" y="3651090"/>
                </a:cubicBezTo>
                <a:cubicBezTo>
                  <a:pt x="2667786" y="3094909"/>
                  <a:pt x="3142269" y="2059531"/>
                  <a:pt x="3638747" y="1492352"/>
                </a:cubicBezTo>
                <a:cubicBezTo>
                  <a:pt x="4135225" y="925173"/>
                  <a:pt x="4782532" y="493111"/>
                  <a:pt x="5194169" y="248014"/>
                </a:cubicBezTo>
                <a:cubicBezTo>
                  <a:pt x="5605806" y="2917"/>
                  <a:pt x="5170602" y="59477"/>
                  <a:pt x="6108569" y="21770"/>
                </a:cubicBezTo>
                <a:cubicBezTo>
                  <a:pt x="7046536" y="-15937"/>
                  <a:pt x="8934253" y="2916"/>
                  <a:pt x="10821971" y="2177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8640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C496A-6934-1ED6-AE0A-15FD91DC3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Exercicio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A5A97-38F1-CDAD-59CF-EF5420D4E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Dada a funcao de transferencia abaixo: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Obtenha:</a:t>
            </a:r>
          </a:p>
          <a:p>
            <a:pPr marL="0" indent="0">
              <a:buNone/>
            </a:pPr>
            <a:r>
              <a:rPr lang="pt-BR" dirty="0"/>
              <a:t>Frequencia natural do sistema</a:t>
            </a:r>
          </a:p>
          <a:p>
            <a:pPr marL="0" indent="0">
              <a:buNone/>
            </a:pPr>
            <a:r>
              <a:rPr lang="pt-BR" dirty="0"/>
              <a:t>Fator de amortecimento</a:t>
            </a:r>
          </a:p>
          <a:p>
            <a:pPr marL="0" indent="0">
              <a:buNone/>
            </a:pPr>
            <a:r>
              <a:rPr lang="pt-BR" dirty="0"/>
              <a:t>Ganho do processo</a:t>
            </a:r>
          </a:p>
          <a:p>
            <a:pPr marL="0" indent="0">
              <a:buNone/>
            </a:pPr>
            <a:r>
              <a:rPr lang="pt-BR" dirty="0"/>
              <a:t>Tempo pico</a:t>
            </a:r>
          </a:p>
          <a:p>
            <a:pPr marL="0" indent="0">
              <a:buNone/>
            </a:pPr>
            <a:r>
              <a:rPr lang="pt-BR" dirty="0"/>
              <a:t>Maximo sobressinal</a:t>
            </a:r>
          </a:p>
          <a:p>
            <a:pPr marL="0" indent="0">
              <a:buNone/>
            </a:pPr>
            <a:r>
              <a:rPr lang="pt-BR" dirty="0"/>
              <a:t>Tempo de acomodaçao 2% e 5%</a:t>
            </a:r>
          </a:p>
          <a:p>
            <a:pPr marL="0" indent="0">
              <a:buNone/>
            </a:pPr>
            <a:r>
              <a:rPr lang="pt-BR" dirty="0"/>
              <a:t>Constante de tempo</a:t>
            </a:r>
          </a:p>
          <a:p>
            <a:pPr marL="0" indent="0">
              <a:buNone/>
            </a:pPr>
            <a:r>
              <a:rPr lang="pt-BR" dirty="0"/>
              <a:t>Resposta do sistema se u(t)=0.5</a:t>
            </a:r>
          </a:p>
          <a:p>
            <a:pPr marL="0" indent="0">
              <a:buNone/>
            </a:pP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3781C5-9952-B436-B633-DB989097F467}"/>
                  </a:ext>
                </a:extLst>
              </p:cNvPr>
              <p:cNvSpPr txBox="1"/>
              <p:nvPr/>
            </p:nvSpPr>
            <p:spPr>
              <a:xfrm>
                <a:off x="4894082" y="2276674"/>
                <a:ext cx="2979405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3781C5-9952-B436-B633-DB989097F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082" y="2276674"/>
                <a:ext cx="2979405" cy="586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0287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53B3-E75E-0B6D-2A5C-ADBF0412A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E55EC9-C76B-EEB5-AD41-6D520E47B7A6}"/>
                  </a:ext>
                </a:extLst>
              </p:cNvPr>
              <p:cNvSpPr txBox="1"/>
              <p:nvPr/>
            </p:nvSpPr>
            <p:spPr>
              <a:xfrm>
                <a:off x="7073246" y="1898798"/>
                <a:ext cx="2384947" cy="6145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𝜁𝜔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E55EC9-C76B-EEB5-AD41-6D520E47B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246" y="1898798"/>
                <a:ext cx="2384947" cy="6145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9ADBBF63-F68B-BF0E-753D-313989AF3E88}"/>
              </a:ext>
            </a:extLst>
          </p:cNvPr>
          <p:cNvSpPr/>
          <p:nvPr/>
        </p:nvSpPr>
        <p:spPr>
          <a:xfrm>
            <a:off x="5326144" y="1970202"/>
            <a:ext cx="1319753" cy="41477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45FE05A-91DB-88D0-8517-F11AF5F380EB}"/>
              </a:ext>
            </a:extLst>
          </p:cNvPr>
          <p:cNvSpPr/>
          <p:nvPr/>
        </p:nvSpPr>
        <p:spPr>
          <a:xfrm>
            <a:off x="3459636" y="4788137"/>
            <a:ext cx="4364611" cy="698930"/>
          </a:xfrm>
          <a:custGeom>
            <a:avLst/>
            <a:gdLst>
              <a:gd name="connsiteX0" fmla="*/ 0 w 5015060"/>
              <a:gd name="connsiteY0" fmla="*/ 0 h 698930"/>
              <a:gd name="connsiteX1" fmla="*/ 3007150 w 5015060"/>
              <a:gd name="connsiteY1" fmla="*/ 697584 h 698930"/>
              <a:gd name="connsiteX2" fmla="*/ 5015060 w 5015060"/>
              <a:gd name="connsiteY2" fmla="*/ 141403 h 698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15060" h="698930">
                <a:moveTo>
                  <a:pt x="0" y="0"/>
                </a:moveTo>
                <a:cubicBezTo>
                  <a:pt x="1085653" y="337008"/>
                  <a:pt x="2171307" y="674017"/>
                  <a:pt x="3007150" y="697584"/>
                </a:cubicBezTo>
                <a:cubicBezTo>
                  <a:pt x="3842993" y="721151"/>
                  <a:pt x="4429026" y="431277"/>
                  <a:pt x="5015060" y="14140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ADABFD2-3EDE-9BA7-107E-3D3A49C605CB}"/>
              </a:ext>
            </a:extLst>
          </p:cNvPr>
          <p:cNvSpPr/>
          <p:nvPr/>
        </p:nvSpPr>
        <p:spPr>
          <a:xfrm>
            <a:off x="4062953" y="4825043"/>
            <a:ext cx="4656841" cy="906632"/>
          </a:xfrm>
          <a:custGeom>
            <a:avLst/>
            <a:gdLst>
              <a:gd name="connsiteX0" fmla="*/ 0 w 4939645"/>
              <a:gd name="connsiteY0" fmla="*/ 0 h 906632"/>
              <a:gd name="connsiteX1" fmla="*/ 3440784 w 4939645"/>
              <a:gd name="connsiteY1" fmla="*/ 904973 h 906632"/>
              <a:gd name="connsiteX2" fmla="*/ 4939645 w 4939645"/>
              <a:gd name="connsiteY2" fmla="*/ 179109 h 90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39645" h="906632">
                <a:moveTo>
                  <a:pt x="0" y="0"/>
                </a:moveTo>
                <a:cubicBezTo>
                  <a:pt x="1308755" y="437561"/>
                  <a:pt x="2617510" y="875122"/>
                  <a:pt x="3440784" y="904973"/>
                </a:cubicBezTo>
                <a:cubicBezTo>
                  <a:pt x="4264058" y="934824"/>
                  <a:pt x="4601851" y="556966"/>
                  <a:pt x="4939645" y="17910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417C6DD-EB97-7689-6397-52F03A0445CC}"/>
              </a:ext>
            </a:extLst>
          </p:cNvPr>
          <p:cNvSpPr/>
          <p:nvPr/>
        </p:nvSpPr>
        <p:spPr>
          <a:xfrm>
            <a:off x="4712284" y="4754918"/>
            <a:ext cx="4446309" cy="1463363"/>
          </a:xfrm>
          <a:custGeom>
            <a:avLst/>
            <a:gdLst>
              <a:gd name="connsiteX0" fmla="*/ 0 w 4864231"/>
              <a:gd name="connsiteY0" fmla="*/ 0 h 1463363"/>
              <a:gd name="connsiteX1" fmla="*/ 3930978 w 4864231"/>
              <a:gd name="connsiteY1" fmla="*/ 1461155 h 1463363"/>
              <a:gd name="connsiteX2" fmla="*/ 4864231 w 4864231"/>
              <a:gd name="connsiteY2" fmla="*/ 263951 h 1463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64231" h="1463363">
                <a:moveTo>
                  <a:pt x="0" y="0"/>
                </a:moveTo>
                <a:cubicBezTo>
                  <a:pt x="1560136" y="708581"/>
                  <a:pt x="3120273" y="1417163"/>
                  <a:pt x="3930978" y="1461155"/>
                </a:cubicBezTo>
                <a:cubicBezTo>
                  <a:pt x="4741683" y="1505147"/>
                  <a:pt x="4802957" y="884549"/>
                  <a:pt x="4864231" y="26395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1C2364B-3AA5-E31D-81D9-F6439400FB92}"/>
              </a:ext>
            </a:extLst>
          </p:cNvPr>
          <p:cNvSpPr/>
          <p:nvPr/>
        </p:nvSpPr>
        <p:spPr>
          <a:xfrm>
            <a:off x="3940404" y="3211095"/>
            <a:ext cx="4656841" cy="867305"/>
          </a:xfrm>
          <a:custGeom>
            <a:avLst/>
            <a:gdLst>
              <a:gd name="connsiteX0" fmla="*/ 0 w 4656841"/>
              <a:gd name="connsiteY0" fmla="*/ 839025 h 867305"/>
              <a:gd name="connsiteX1" fmla="*/ 2092750 w 4656841"/>
              <a:gd name="connsiteY1" fmla="*/ 39 h 867305"/>
              <a:gd name="connsiteX2" fmla="*/ 4656841 w 4656841"/>
              <a:gd name="connsiteY2" fmla="*/ 867305 h 867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56841" h="867305">
                <a:moveTo>
                  <a:pt x="0" y="839025"/>
                </a:moveTo>
                <a:cubicBezTo>
                  <a:pt x="658305" y="417175"/>
                  <a:pt x="1316610" y="-4674"/>
                  <a:pt x="2092750" y="39"/>
                </a:cubicBezTo>
                <a:cubicBezTo>
                  <a:pt x="2868890" y="4752"/>
                  <a:pt x="3762865" y="436028"/>
                  <a:pt x="4656841" y="86730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F714E22-2663-ED24-206C-8ABFC33880B1}"/>
                  </a:ext>
                </a:extLst>
              </p:cNvPr>
              <p:cNvSpPr txBox="1"/>
              <p:nvPr/>
            </p:nvSpPr>
            <p:spPr>
              <a:xfrm>
                <a:off x="7909089" y="347890"/>
                <a:ext cx="3668803" cy="381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pt-BR" dirty="0"/>
                  <a:t> é a expressao do tempo morto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F714E22-2663-ED24-206C-8ABFC3388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9089" y="347890"/>
                <a:ext cx="3668803" cy="381451"/>
              </a:xfrm>
              <a:prstGeom prst="rect">
                <a:avLst/>
              </a:prstGeom>
              <a:blipFill>
                <a:blip r:embed="rId7"/>
                <a:stretch>
                  <a:fillRect t="-4762" b="-238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DA021E-AB80-8EF4-46D0-063C898CE021}"/>
                  </a:ext>
                </a:extLst>
              </p:cNvPr>
              <p:cNvSpPr txBox="1"/>
              <p:nvPr/>
            </p:nvSpPr>
            <p:spPr>
              <a:xfrm>
                <a:off x="2488085" y="1825124"/>
                <a:ext cx="2224199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DA021E-AB80-8EF4-46D0-063C898CE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85" y="1825124"/>
                <a:ext cx="2224199" cy="5866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FD2C60-6BCD-0506-5385-DE0591D21949}"/>
                  </a:ext>
                </a:extLst>
              </p:cNvPr>
              <p:cNvSpPr txBox="1"/>
              <p:nvPr/>
            </p:nvSpPr>
            <p:spPr>
              <a:xfrm>
                <a:off x="2488085" y="3242243"/>
                <a:ext cx="2769220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10(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+0.1)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FD2C60-6BCD-0506-5385-DE0591D21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85" y="3242243"/>
                <a:ext cx="2769220" cy="5866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3F9A37-8496-9E0B-635E-02ACE18141D2}"/>
                  </a:ext>
                </a:extLst>
              </p:cNvPr>
              <p:cNvSpPr txBox="1"/>
              <p:nvPr/>
            </p:nvSpPr>
            <p:spPr>
              <a:xfrm>
                <a:off x="2488085" y="4074325"/>
                <a:ext cx="2410147" cy="750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+0.1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3F9A37-8496-9E0B-635E-02ACE1814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85" y="4074325"/>
                <a:ext cx="2410147" cy="75071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4C005C-2FE6-E130-5665-D18A9AD0F361}"/>
                  </a:ext>
                </a:extLst>
              </p:cNvPr>
              <p:cNvSpPr txBox="1"/>
              <p:nvPr/>
            </p:nvSpPr>
            <p:spPr>
              <a:xfrm>
                <a:off x="7073246" y="4140391"/>
                <a:ext cx="2384947" cy="6145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𝜁𝜔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4C005C-2FE6-E130-5665-D18A9AD0F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246" y="4140391"/>
                <a:ext cx="2384947" cy="61452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row: Left-Right 25">
            <a:extLst>
              <a:ext uri="{FF2B5EF4-FFF2-40B4-BE49-F238E27FC236}">
                <a16:creationId xmlns:a16="http://schemas.microsoft.com/office/drawing/2014/main" id="{444FB57A-C4A7-1F05-3434-6F844D28B536}"/>
              </a:ext>
            </a:extLst>
          </p:cNvPr>
          <p:cNvSpPr/>
          <p:nvPr/>
        </p:nvSpPr>
        <p:spPr>
          <a:xfrm>
            <a:off x="5326144" y="4240264"/>
            <a:ext cx="1319753" cy="41477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34426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53B3-E75E-0B6D-2A5C-ADBF0412A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AA0640-A791-346E-C2D4-1F41D208D2D9}"/>
                  </a:ext>
                </a:extLst>
              </p:cNvPr>
              <p:cNvSpPr txBox="1"/>
              <p:nvPr/>
            </p:nvSpPr>
            <p:spPr>
              <a:xfrm>
                <a:off x="762784" y="3772930"/>
                <a:ext cx="9379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AA0640-A791-346E-C2D4-1F41D208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784" y="3772930"/>
                <a:ext cx="937949" cy="276999"/>
              </a:xfrm>
              <a:prstGeom prst="rect">
                <a:avLst/>
              </a:prstGeom>
              <a:blipFill>
                <a:blip r:embed="rId2"/>
                <a:stretch>
                  <a:fillRect l="-3247" t="-4444" r="-5844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Right 12">
            <a:extLst>
              <a:ext uri="{FF2B5EF4-FFF2-40B4-BE49-F238E27FC236}">
                <a16:creationId xmlns:a16="http://schemas.microsoft.com/office/drawing/2014/main" id="{A209A739-A9D6-3A0F-2932-DEA252350A4F}"/>
              </a:ext>
            </a:extLst>
          </p:cNvPr>
          <p:cNvSpPr/>
          <p:nvPr/>
        </p:nvSpPr>
        <p:spPr>
          <a:xfrm>
            <a:off x="2300140" y="3772930"/>
            <a:ext cx="663019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29891F-099F-009B-621C-0FB01549EB37}"/>
                  </a:ext>
                </a:extLst>
              </p:cNvPr>
              <p:cNvSpPr txBox="1"/>
              <p:nvPr/>
            </p:nvSpPr>
            <p:spPr>
              <a:xfrm>
                <a:off x="3126969" y="3772930"/>
                <a:ext cx="16906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0.316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𝑟𝑎𝑑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29891F-099F-009B-621C-0FB01549E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6969" y="3772930"/>
                <a:ext cx="1690656" cy="276999"/>
              </a:xfrm>
              <a:prstGeom prst="rect">
                <a:avLst/>
              </a:prstGeom>
              <a:blipFill>
                <a:blip r:embed="rId3"/>
                <a:stretch>
                  <a:fillRect l="-1444" t="-2222" r="-1805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A495E2-1520-1F69-B8BE-4C6E19DC8798}"/>
                  </a:ext>
                </a:extLst>
              </p:cNvPr>
              <p:cNvSpPr txBox="1"/>
              <p:nvPr/>
            </p:nvSpPr>
            <p:spPr>
              <a:xfrm>
                <a:off x="615071" y="4248561"/>
                <a:ext cx="10678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𝜁𝜔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A495E2-1520-1F69-B8BE-4C6E19DC8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71" y="4248561"/>
                <a:ext cx="1067856" cy="276999"/>
              </a:xfrm>
              <a:prstGeom prst="rect">
                <a:avLst/>
              </a:prstGeom>
              <a:blipFill>
                <a:blip r:embed="rId4"/>
                <a:stretch>
                  <a:fillRect l="-5143" r="-4571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row: Right 15">
            <a:extLst>
              <a:ext uri="{FF2B5EF4-FFF2-40B4-BE49-F238E27FC236}">
                <a16:creationId xmlns:a16="http://schemas.microsoft.com/office/drawing/2014/main" id="{5EC411E8-94F5-4AF6-B80F-3F3918B7D044}"/>
              </a:ext>
            </a:extLst>
          </p:cNvPr>
          <p:cNvSpPr/>
          <p:nvPr/>
        </p:nvSpPr>
        <p:spPr>
          <a:xfrm>
            <a:off x="2267353" y="4244964"/>
            <a:ext cx="663019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58B9327-ADB7-A86C-E8B0-A690781884B0}"/>
                  </a:ext>
                </a:extLst>
              </p:cNvPr>
              <p:cNvSpPr txBox="1"/>
              <p:nvPr/>
            </p:nvSpPr>
            <p:spPr>
              <a:xfrm>
                <a:off x="3169297" y="4184950"/>
                <a:ext cx="2844753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2∗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0.321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58B9327-ADB7-A86C-E8B0-A69078188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297" y="4184950"/>
                <a:ext cx="2844753" cy="5203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rrow: Right 17">
            <a:extLst>
              <a:ext uri="{FF2B5EF4-FFF2-40B4-BE49-F238E27FC236}">
                <a16:creationId xmlns:a16="http://schemas.microsoft.com/office/drawing/2014/main" id="{052FE5E7-B9E9-0493-2A54-0B55566DC2FB}"/>
              </a:ext>
            </a:extLst>
          </p:cNvPr>
          <p:cNvSpPr/>
          <p:nvPr/>
        </p:nvSpPr>
        <p:spPr>
          <a:xfrm>
            <a:off x="6077352" y="4333426"/>
            <a:ext cx="663019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309121-F105-EB85-4EE7-6F08247657C5}"/>
              </a:ext>
            </a:extLst>
          </p:cNvPr>
          <p:cNvSpPr txBox="1"/>
          <p:nvPr/>
        </p:nvSpPr>
        <p:spPr>
          <a:xfrm>
            <a:off x="7073245" y="4244964"/>
            <a:ext cx="193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subamortecido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F714E22-2663-ED24-206C-8ABFC33880B1}"/>
                  </a:ext>
                </a:extLst>
              </p:cNvPr>
              <p:cNvSpPr txBox="1"/>
              <p:nvPr/>
            </p:nvSpPr>
            <p:spPr>
              <a:xfrm>
                <a:off x="7909089" y="347890"/>
                <a:ext cx="3668803" cy="381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pt-BR" dirty="0"/>
                  <a:t> é a expressao do tempo morto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F714E22-2663-ED24-206C-8ABFC3388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9089" y="347890"/>
                <a:ext cx="3668803" cy="381451"/>
              </a:xfrm>
              <a:prstGeom prst="rect">
                <a:avLst/>
              </a:prstGeom>
              <a:blipFill>
                <a:blip r:embed="rId7"/>
                <a:stretch>
                  <a:fillRect t="-4762" b="-238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2C6FEC-4304-B1CE-D435-BFCC49AE78C6}"/>
                  </a:ext>
                </a:extLst>
              </p:cNvPr>
              <p:cNvSpPr txBox="1"/>
              <p:nvPr/>
            </p:nvSpPr>
            <p:spPr>
              <a:xfrm>
                <a:off x="709125" y="4982397"/>
                <a:ext cx="6091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2C6FEC-4304-B1CE-D435-BFCC49AE7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25" y="4982397"/>
                <a:ext cx="609141" cy="276999"/>
              </a:xfrm>
              <a:prstGeom prst="rect">
                <a:avLst/>
              </a:prstGeom>
              <a:blipFill>
                <a:blip r:embed="rId8"/>
                <a:stretch>
                  <a:fillRect l="-9000" r="-9000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83C18D1-B428-D815-9376-6A58A260A7EC}"/>
                  </a:ext>
                </a:extLst>
              </p:cNvPr>
              <p:cNvSpPr txBox="1"/>
              <p:nvPr/>
            </p:nvSpPr>
            <p:spPr>
              <a:xfrm>
                <a:off x="580052" y="5550551"/>
                <a:ext cx="1037079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83C18D1-B428-D815-9376-6A58A260A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52" y="5550551"/>
                <a:ext cx="1037079" cy="5203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rrow: Right 23">
            <a:extLst>
              <a:ext uri="{FF2B5EF4-FFF2-40B4-BE49-F238E27FC236}">
                <a16:creationId xmlns:a16="http://schemas.microsoft.com/office/drawing/2014/main" id="{15D13E89-BF00-C246-EDCF-DD383D2FAC99}"/>
              </a:ext>
            </a:extLst>
          </p:cNvPr>
          <p:cNvSpPr/>
          <p:nvPr/>
        </p:nvSpPr>
        <p:spPr>
          <a:xfrm>
            <a:off x="2089814" y="5550551"/>
            <a:ext cx="663019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E963E1-5456-1F0B-3DAF-AAC40299ECF9}"/>
                  </a:ext>
                </a:extLst>
              </p:cNvPr>
              <p:cNvSpPr txBox="1"/>
              <p:nvPr/>
            </p:nvSpPr>
            <p:spPr>
              <a:xfrm>
                <a:off x="2917910" y="5544092"/>
                <a:ext cx="1839221" cy="7016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E963E1-5456-1F0B-3DAF-AAC40299E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910" y="5544092"/>
                <a:ext cx="1839221" cy="70160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A5327F-7A93-A1FE-BF72-D41606EDF339}"/>
                  </a:ext>
                </a:extLst>
              </p:cNvPr>
              <p:cNvSpPr txBox="1"/>
              <p:nvPr/>
            </p:nvSpPr>
            <p:spPr>
              <a:xfrm>
                <a:off x="2488085" y="1755332"/>
                <a:ext cx="2410147" cy="750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+0.1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A5327F-7A93-A1FE-BF72-D41606EDF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85" y="1755332"/>
                <a:ext cx="2410147" cy="75071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672C2D-B6EE-FC5A-E8E3-138768015D43}"/>
                  </a:ext>
                </a:extLst>
              </p:cNvPr>
              <p:cNvSpPr txBox="1"/>
              <p:nvPr/>
            </p:nvSpPr>
            <p:spPr>
              <a:xfrm>
                <a:off x="7073246" y="1821398"/>
                <a:ext cx="2384947" cy="6145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𝜁𝜔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672C2D-B6EE-FC5A-E8E3-138768015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246" y="1821398"/>
                <a:ext cx="2384947" cy="61452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row: Left-Right 25">
            <a:extLst>
              <a:ext uri="{FF2B5EF4-FFF2-40B4-BE49-F238E27FC236}">
                <a16:creationId xmlns:a16="http://schemas.microsoft.com/office/drawing/2014/main" id="{6C37F336-43E4-2224-FE34-2944CCBC399A}"/>
              </a:ext>
            </a:extLst>
          </p:cNvPr>
          <p:cNvSpPr/>
          <p:nvPr/>
        </p:nvSpPr>
        <p:spPr>
          <a:xfrm>
            <a:off x="5326144" y="1921271"/>
            <a:ext cx="1319753" cy="41477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6052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8B7441-F2B2-99AE-ADA6-84E8D5B8A66B}"/>
                  </a:ext>
                </a:extLst>
              </p:cNvPr>
              <p:cNvSpPr txBox="1"/>
              <p:nvPr/>
            </p:nvSpPr>
            <p:spPr>
              <a:xfrm>
                <a:off x="820132" y="843698"/>
                <a:ext cx="1550553" cy="5887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ad>
                            <m:radPr>
                              <m:degHide m:val="on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8B7441-F2B2-99AE-ADA6-84E8D5B8A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2" y="843698"/>
                <a:ext cx="1550553" cy="5887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7AC5EDC-3073-AC11-6B16-F38DF53AB60B}"/>
              </a:ext>
            </a:extLst>
          </p:cNvPr>
          <p:cNvSpPr txBox="1"/>
          <p:nvPr/>
        </p:nvSpPr>
        <p:spPr>
          <a:xfrm>
            <a:off x="2884602" y="716437"/>
            <a:ext cx="3535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Tempo de pico (subamortecido)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DBF461-1F14-F7B8-C340-A598ACEBD891}"/>
                  </a:ext>
                </a:extLst>
              </p:cNvPr>
              <p:cNvSpPr txBox="1"/>
              <p:nvPr/>
            </p:nvSpPr>
            <p:spPr>
              <a:xfrm>
                <a:off x="727435" y="1740817"/>
                <a:ext cx="3591624" cy="5243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0.3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21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10,49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𝑠𝑒𝑔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DBF461-1F14-F7B8-C340-A598ACEBD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35" y="1740817"/>
                <a:ext cx="3591624" cy="5243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B1D48D-1E17-5542-3CB8-A6776421379B}"/>
                  </a:ext>
                </a:extLst>
              </p:cNvPr>
              <p:cNvSpPr txBox="1"/>
              <p:nvPr/>
            </p:nvSpPr>
            <p:spPr>
              <a:xfrm>
                <a:off x="681870" y="2703925"/>
                <a:ext cx="1443537" cy="5449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𝜁</m:t>
                                      </m:r>
                                    </m:e>
                                    <m:sup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sup>
                      </m:sSup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B1D48D-1E17-5542-3CB8-A67764213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70" y="2703925"/>
                <a:ext cx="1443537" cy="5449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604FE2-2313-FBE4-D49F-4B8D7525604B}"/>
                  </a:ext>
                </a:extLst>
              </p:cNvPr>
              <p:cNvSpPr txBox="1"/>
              <p:nvPr/>
            </p:nvSpPr>
            <p:spPr>
              <a:xfrm>
                <a:off x="681870" y="3415200"/>
                <a:ext cx="2477730" cy="4862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0.3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0.3</m:t>
                                      </m:r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21</m:t>
                                      </m:r>
                                    </m:e>
                                    <m:sup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604FE2-2313-FBE4-D49F-4B8D75256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70" y="3415200"/>
                <a:ext cx="2477730" cy="48622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449032-9709-129A-C2D0-1A05DF8371B5}"/>
                  </a:ext>
                </a:extLst>
              </p:cNvPr>
              <p:cNvSpPr txBox="1"/>
              <p:nvPr/>
            </p:nvSpPr>
            <p:spPr>
              <a:xfrm>
                <a:off x="681870" y="4398954"/>
                <a:ext cx="4103303" cy="565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(2%)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𝜔𝜁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∗0.3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39,43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𝑠𝑒𝑔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449032-9709-129A-C2D0-1A05DF837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70" y="4398954"/>
                <a:ext cx="4103303" cy="5651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761B7D-20CA-8073-16FE-27EFB5A2D9E8}"/>
                  </a:ext>
                </a:extLst>
              </p:cNvPr>
              <p:cNvSpPr txBox="1"/>
              <p:nvPr/>
            </p:nvSpPr>
            <p:spPr>
              <a:xfrm>
                <a:off x="681870" y="5179062"/>
                <a:ext cx="4103303" cy="566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(5%)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𝜔𝜁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∗0.3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29,57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𝑠𝑒𝑔</m:t>
                      </m:r>
                    </m:oMath>
                  </m:oMathPara>
                </a14:m>
                <a:endParaRPr lang="pt-BR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761B7D-20CA-8073-16FE-27EFB5A2D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70" y="5179062"/>
                <a:ext cx="4103303" cy="5661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AEBA498-6A79-BC2E-2595-9F13898094E3}"/>
              </a:ext>
            </a:extLst>
          </p:cNvPr>
          <p:cNvSpPr txBox="1"/>
          <p:nvPr/>
        </p:nvSpPr>
        <p:spPr>
          <a:xfrm>
            <a:off x="2761165" y="2879550"/>
            <a:ext cx="3846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Maximo sobressinal (subamortecido)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1C273B-1156-638C-DDED-BDCC39B3F470}"/>
              </a:ext>
            </a:extLst>
          </p:cNvPr>
          <p:cNvCxnSpPr/>
          <p:nvPr/>
        </p:nvCxnSpPr>
        <p:spPr>
          <a:xfrm>
            <a:off x="6419654" y="263951"/>
            <a:ext cx="0" cy="6202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B44D3A-5D22-330D-EA96-5AF5422C7B30}"/>
                  </a:ext>
                </a:extLst>
              </p:cNvPr>
              <p:cNvSpPr txBox="1"/>
              <p:nvPr/>
            </p:nvSpPr>
            <p:spPr>
              <a:xfrm>
                <a:off x="6815579" y="564232"/>
                <a:ext cx="749757" cy="566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𝜔𝜁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B44D3A-5D22-330D-EA96-5AF5422C7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579" y="564232"/>
                <a:ext cx="749757" cy="5661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5DAA65E-CB9E-6BE2-7FC1-DBFC2490B899}"/>
              </a:ext>
            </a:extLst>
          </p:cNvPr>
          <p:cNvSpPr txBox="1"/>
          <p:nvPr/>
        </p:nvSpPr>
        <p:spPr>
          <a:xfrm>
            <a:off x="8125905" y="633283"/>
            <a:ext cx="281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Constante de tempo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3180C2-F7B8-5116-3888-AD929E86E915}"/>
                  </a:ext>
                </a:extLst>
              </p:cNvPr>
              <p:cNvSpPr txBox="1"/>
              <p:nvPr/>
            </p:nvSpPr>
            <p:spPr>
              <a:xfrm>
                <a:off x="6873710" y="1451924"/>
                <a:ext cx="2902333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∗0.3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9,85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𝑠𝑒𝑔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3180C2-F7B8-5116-3888-AD929E86E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710" y="1451924"/>
                <a:ext cx="2902333" cy="5203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8187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914700-25CF-41D9-C40C-AF1607960776}"/>
                  </a:ext>
                </a:extLst>
              </p:cNvPr>
              <p:cNvSpPr txBox="1"/>
              <p:nvPr/>
            </p:nvSpPr>
            <p:spPr>
              <a:xfrm>
                <a:off x="961534" y="777710"/>
                <a:ext cx="2390526" cy="360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𝑠𝑌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914700-25CF-41D9-C40C-AF1607960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534" y="777710"/>
                <a:ext cx="2390526" cy="360868"/>
              </a:xfrm>
              <a:prstGeom prst="rect">
                <a:avLst/>
              </a:prstGeom>
              <a:blipFill>
                <a:blip r:embed="rId2"/>
                <a:stretch>
                  <a:fillRect l="-2041" t="-1695" r="-3061" b="-152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45E027-E298-7D25-9722-2BC4409EBC3E}"/>
              </a:ext>
            </a:extLst>
          </p:cNvPr>
          <p:cNvCxnSpPr/>
          <p:nvPr/>
        </p:nvCxnSpPr>
        <p:spPr>
          <a:xfrm>
            <a:off x="5316718" y="131975"/>
            <a:ext cx="0" cy="641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3B8E2A-3887-BD8A-583A-2AB8DBFCF967}"/>
                  </a:ext>
                </a:extLst>
              </p:cNvPr>
              <p:cNvSpPr txBox="1"/>
              <p:nvPr/>
            </p:nvSpPr>
            <p:spPr>
              <a:xfrm>
                <a:off x="6289251" y="484360"/>
                <a:ext cx="2320379" cy="750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+0.2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+0.1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3B8E2A-3887-BD8A-583A-2AB8DBFCF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251" y="484360"/>
                <a:ext cx="2320379" cy="7507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079E69-5349-DBEE-7567-28E599748F9F}"/>
                  </a:ext>
                </a:extLst>
              </p:cNvPr>
              <p:cNvSpPr txBox="1"/>
              <p:nvPr/>
            </p:nvSpPr>
            <p:spPr>
              <a:xfrm>
                <a:off x="6356810" y="1438040"/>
                <a:ext cx="2808461" cy="706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+0.2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+0.1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079E69-5349-DBEE-7567-28E599748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810" y="1438040"/>
                <a:ext cx="2808461" cy="7061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03711C6-C26C-DB4C-6BE5-84DE6DA5EE25}"/>
              </a:ext>
            </a:extLst>
          </p:cNvPr>
          <p:cNvSpPr txBox="1"/>
          <p:nvPr/>
        </p:nvSpPr>
        <p:spPr>
          <a:xfrm>
            <a:off x="5901179" y="2762054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U(t)=0.5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5BB116C-2FFB-C816-C19B-69B91F920C6D}"/>
              </a:ext>
            </a:extLst>
          </p:cNvPr>
          <p:cNvSpPr/>
          <p:nvPr/>
        </p:nvSpPr>
        <p:spPr>
          <a:xfrm>
            <a:off x="6881567" y="2333144"/>
            <a:ext cx="2121031" cy="542031"/>
          </a:xfrm>
          <a:custGeom>
            <a:avLst/>
            <a:gdLst>
              <a:gd name="connsiteX0" fmla="*/ 0 w 2121031"/>
              <a:gd name="connsiteY0" fmla="*/ 542031 h 542031"/>
              <a:gd name="connsiteX1" fmla="*/ 933254 w 2121031"/>
              <a:gd name="connsiteY1" fmla="*/ 4703 h 542031"/>
              <a:gd name="connsiteX2" fmla="*/ 2121031 w 2121031"/>
              <a:gd name="connsiteY2" fmla="*/ 325215 h 542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1031" h="542031">
                <a:moveTo>
                  <a:pt x="0" y="542031"/>
                </a:moveTo>
                <a:cubicBezTo>
                  <a:pt x="289874" y="291435"/>
                  <a:pt x="579749" y="40839"/>
                  <a:pt x="933254" y="4703"/>
                </a:cubicBezTo>
                <a:cubicBezTo>
                  <a:pt x="1286759" y="-31433"/>
                  <a:pt x="1703895" y="146891"/>
                  <a:pt x="2121031" y="32521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186CF7-8724-0354-7BB0-E60D859CC642}"/>
              </a:ext>
            </a:extLst>
          </p:cNvPr>
          <p:cNvSpPr txBox="1"/>
          <p:nvPr/>
        </p:nvSpPr>
        <p:spPr>
          <a:xfrm>
            <a:off x="9045657" y="2505843"/>
            <a:ext cx="1210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U(s)=0.5/s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37B1A1-DCBF-58E3-7586-1B10120E424F}"/>
                  </a:ext>
                </a:extLst>
              </p:cNvPr>
              <p:cNvSpPr txBox="1"/>
              <p:nvPr/>
            </p:nvSpPr>
            <p:spPr>
              <a:xfrm>
                <a:off x="6414942" y="3786884"/>
                <a:ext cx="2820900" cy="706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+0.2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+0.1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37B1A1-DCBF-58E3-7586-1B10120E4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942" y="3786884"/>
                <a:ext cx="2820900" cy="7061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Right 10">
            <a:extLst>
              <a:ext uri="{FF2B5EF4-FFF2-40B4-BE49-F238E27FC236}">
                <a16:creationId xmlns:a16="http://schemas.microsoft.com/office/drawing/2014/main" id="{AA4883B0-E820-F0C8-85F0-C6E7490172A1}"/>
              </a:ext>
            </a:extLst>
          </p:cNvPr>
          <p:cNvSpPr/>
          <p:nvPr/>
        </p:nvSpPr>
        <p:spPr>
          <a:xfrm rot="14017551">
            <a:off x="3109333" y="2213398"/>
            <a:ext cx="3828325" cy="37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6C06CD-21CA-B49B-E052-A3400F06AEC8}"/>
                  </a:ext>
                </a:extLst>
              </p:cNvPr>
              <p:cNvSpPr txBox="1"/>
              <p:nvPr/>
            </p:nvSpPr>
            <p:spPr>
              <a:xfrm>
                <a:off x="445480" y="2127187"/>
                <a:ext cx="4001929" cy="706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num>
                            <m:den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+0.2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+0.1</m:t>
                              </m:r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6C06CD-21CA-B49B-E052-A3400F06A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80" y="2127187"/>
                <a:ext cx="4001929" cy="7061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FBCE9D-B76D-B8D7-6C79-7E8B0059296C}"/>
              </a:ext>
            </a:extLst>
          </p:cNvPr>
          <p:cNvCxnSpPr/>
          <p:nvPr/>
        </p:nvCxnSpPr>
        <p:spPr>
          <a:xfrm>
            <a:off x="2109221" y="2373137"/>
            <a:ext cx="303599" cy="3786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43BACC9-FA62-D253-73A2-92FA19DDA800}"/>
              </a:ext>
            </a:extLst>
          </p:cNvPr>
          <p:cNvCxnSpPr/>
          <p:nvPr/>
        </p:nvCxnSpPr>
        <p:spPr>
          <a:xfrm>
            <a:off x="4143810" y="2572726"/>
            <a:ext cx="303599" cy="3786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4C3172-8276-9EC1-42D8-0DC9EB8BC890}"/>
                  </a:ext>
                </a:extLst>
              </p:cNvPr>
              <p:cNvSpPr txBox="1"/>
              <p:nvPr/>
            </p:nvSpPr>
            <p:spPr>
              <a:xfrm>
                <a:off x="503723" y="3051766"/>
                <a:ext cx="3331938" cy="706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∗0.5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+0.2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+0.1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4C3172-8276-9EC1-42D8-0DC9EB8BC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23" y="3051766"/>
                <a:ext cx="3331938" cy="70615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2BC69B5-DC5B-B166-E3EC-D89DE6D669C3}"/>
                  </a:ext>
                </a:extLst>
              </p:cNvPr>
              <p:cNvSpPr txBox="1"/>
              <p:nvPr/>
            </p:nvSpPr>
            <p:spPr>
              <a:xfrm>
                <a:off x="503723" y="3786884"/>
                <a:ext cx="2690801" cy="530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2BC69B5-DC5B-B166-E3EC-D89DE6D66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23" y="3786884"/>
                <a:ext cx="2690801" cy="5305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71D1AE-D71D-BB2E-7A68-7578A45FB376}"/>
                  </a:ext>
                </a:extLst>
              </p:cNvPr>
              <p:cNvSpPr txBox="1"/>
              <p:nvPr/>
            </p:nvSpPr>
            <p:spPr>
              <a:xfrm>
                <a:off x="637269" y="4522002"/>
                <a:ext cx="17755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71D1AE-D71D-BB2E-7A68-7578A45FB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69" y="4522002"/>
                <a:ext cx="1775551" cy="276999"/>
              </a:xfrm>
              <a:prstGeom prst="rect">
                <a:avLst/>
              </a:prstGeom>
              <a:blipFill>
                <a:blip r:embed="rId9"/>
                <a:stretch>
                  <a:fillRect l="-2749" r="-3093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3985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A17426A-6E8C-DBC1-BBB4-E7360F786CDD}"/>
              </a:ext>
            </a:extLst>
          </p:cNvPr>
          <p:cNvCxnSpPr/>
          <p:nvPr/>
        </p:nvCxnSpPr>
        <p:spPr>
          <a:xfrm>
            <a:off x="603315" y="6259398"/>
            <a:ext cx="112084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59063C-617D-9E25-70A1-25B88A889549}"/>
              </a:ext>
            </a:extLst>
          </p:cNvPr>
          <p:cNvCxnSpPr/>
          <p:nvPr/>
        </p:nvCxnSpPr>
        <p:spPr>
          <a:xfrm flipV="1">
            <a:off x="1187777" y="273377"/>
            <a:ext cx="75415" cy="6353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9D5D9B7-882F-2FA1-9F68-0EFC134F45E9}"/>
              </a:ext>
            </a:extLst>
          </p:cNvPr>
          <p:cNvSpPr/>
          <p:nvPr/>
        </p:nvSpPr>
        <p:spPr>
          <a:xfrm>
            <a:off x="1225485" y="539501"/>
            <a:ext cx="10746556" cy="5663336"/>
          </a:xfrm>
          <a:custGeom>
            <a:avLst/>
            <a:gdLst>
              <a:gd name="connsiteX0" fmla="*/ 0 w 10746556"/>
              <a:gd name="connsiteY0" fmla="*/ 5663336 h 5663336"/>
              <a:gd name="connsiteX1" fmla="*/ 518474 w 10746556"/>
              <a:gd name="connsiteY1" fmla="*/ 4550973 h 5663336"/>
              <a:gd name="connsiteX2" fmla="*/ 1791092 w 10746556"/>
              <a:gd name="connsiteY2" fmla="*/ 101522 h 5663336"/>
              <a:gd name="connsiteX3" fmla="*/ 3063711 w 10746556"/>
              <a:gd name="connsiteY3" fmla="*/ 1374140 h 5663336"/>
              <a:gd name="connsiteX4" fmla="*/ 3987538 w 10746556"/>
              <a:gd name="connsiteY4" fmla="*/ 657703 h 5663336"/>
              <a:gd name="connsiteX5" fmla="*/ 4788816 w 10746556"/>
              <a:gd name="connsiteY5" fmla="*/ 1157324 h 5663336"/>
              <a:gd name="connsiteX6" fmla="*/ 5608948 w 10746556"/>
              <a:gd name="connsiteY6" fmla="*/ 799105 h 5663336"/>
              <a:gd name="connsiteX7" fmla="*/ 6476214 w 10746556"/>
              <a:gd name="connsiteY7" fmla="*/ 1034775 h 5663336"/>
              <a:gd name="connsiteX8" fmla="*/ 7296346 w 10746556"/>
              <a:gd name="connsiteY8" fmla="*/ 865093 h 5663336"/>
              <a:gd name="connsiteX9" fmla="*/ 8352148 w 10746556"/>
              <a:gd name="connsiteY9" fmla="*/ 978214 h 5663336"/>
              <a:gd name="connsiteX10" fmla="*/ 9002597 w 10746556"/>
              <a:gd name="connsiteY10" fmla="*/ 865093 h 5663336"/>
              <a:gd name="connsiteX11" fmla="*/ 10746556 w 10746556"/>
              <a:gd name="connsiteY11" fmla="*/ 883946 h 5663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746556" h="5663336">
                <a:moveTo>
                  <a:pt x="0" y="5663336"/>
                </a:moveTo>
                <a:cubicBezTo>
                  <a:pt x="109979" y="5570639"/>
                  <a:pt x="219959" y="5477942"/>
                  <a:pt x="518474" y="4550973"/>
                </a:cubicBezTo>
                <a:cubicBezTo>
                  <a:pt x="816989" y="3624004"/>
                  <a:pt x="1366886" y="630994"/>
                  <a:pt x="1791092" y="101522"/>
                </a:cubicBezTo>
                <a:cubicBezTo>
                  <a:pt x="2215298" y="-427950"/>
                  <a:pt x="2697637" y="1281443"/>
                  <a:pt x="3063711" y="1374140"/>
                </a:cubicBezTo>
                <a:cubicBezTo>
                  <a:pt x="3429785" y="1466837"/>
                  <a:pt x="3700021" y="693839"/>
                  <a:pt x="3987538" y="657703"/>
                </a:cubicBezTo>
                <a:cubicBezTo>
                  <a:pt x="4275055" y="621567"/>
                  <a:pt x="4518581" y="1133757"/>
                  <a:pt x="4788816" y="1157324"/>
                </a:cubicBezTo>
                <a:cubicBezTo>
                  <a:pt x="5059051" y="1180891"/>
                  <a:pt x="5327715" y="819530"/>
                  <a:pt x="5608948" y="799105"/>
                </a:cubicBezTo>
                <a:cubicBezTo>
                  <a:pt x="5890181" y="778680"/>
                  <a:pt x="6194981" y="1023777"/>
                  <a:pt x="6476214" y="1034775"/>
                </a:cubicBezTo>
                <a:cubicBezTo>
                  <a:pt x="6757447" y="1045773"/>
                  <a:pt x="6983690" y="874520"/>
                  <a:pt x="7296346" y="865093"/>
                </a:cubicBezTo>
                <a:cubicBezTo>
                  <a:pt x="7609002" y="855666"/>
                  <a:pt x="8067773" y="978214"/>
                  <a:pt x="8352148" y="978214"/>
                </a:cubicBezTo>
                <a:cubicBezTo>
                  <a:pt x="8636523" y="978214"/>
                  <a:pt x="8603529" y="880804"/>
                  <a:pt x="9002597" y="865093"/>
                </a:cubicBezTo>
                <a:cubicBezTo>
                  <a:pt x="9401665" y="849382"/>
                  <a:pt x="10074110" y="866664"/>
                  <a:pt x="10746556" y="8839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F3B991-7E8C-B23B-7163-8348B9370B2C}"/>
              </a:ext>
            </a:extLst>
          </p:cNvPr>
          <p:cNvCxnSpPr/>
          <p:nvPr/>
        </p:nvCxnSpPr>
        <p:spPr>
          <a:xfrm>
            <a:off x="1263192" y="1404590"/>
            <a:ext cx="1054859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9D2F50-BF08-D989-33C3-D7B214148056}"/>
              </a:ext>
            </a:extLst>
          </p:cNvPr>
          <p:cNvCxnSpPr/>
          <p:nvPr/>
        </p:nvCxnSpPr>
        <p:spPr>
          <a:xfrm flipH="1">
            <a:off x="3082565" y="539501"/>
            <a:ext cx="94268" cy="5719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73034B3-5DC1-025D-05D0-2AD2951ABD83}"/>
              </a:ext>
            </a:extLst>
          </p:cNvPr>
          <p:cNvSpPr txBox="1"/>
          <p:nvPr/>
        </p:nvSpPr>
        <p:spPr>
          <a:xfrm>
            <a:off x="10322351" y="6344239"/>
            <a:ext cx="1187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Tempo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51B5D1-ADED-9D00-F923-BC148D8C2D9A}"/>
              </a:ext>
            </a:extLst>
          </p:cNvPr>
          <p:cNvCxnSpPr/>
          <p:nvPr/>
        </p:nvCxnSpPr>
        <p:spPr>
          <a:xfrm>
            <a:off x="3176833" y="539501"/>
            <a:ext cx="0" cy="8650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AD65EE1-9A52-9F6F-2CC2-6D92CB3AAB6C}"/>
              </a:ext>
            </a:extLst>
          </p:cNvPr>
          <p:cNvSpPr txBox="1"/>
          <p:nvPr/>
        </p:nvSpPr>
        <p:spPr>
          <a:xfrm>
            <a:off x="2309567" y="829559"/>
            <a:ext cx="556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F19021-5CAC-3A01-79EF-99FE718F25BC}"/>
              </a:ext>
            </a:extLst>
          </p:cNvPr>
          <p:cNvSpPr txBox="1"/>
          <p:nvPr/>
        </p:nvSpPr>
        <p:spPr>
          <a:xfrm>
            <a:off x="2790334" y="6344239"/>
            <a:ext cx="60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Tp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B66D126-8D96-002B-B174-22364596CDEB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5213023" y="1197204"/>
            <a:ext cx="16968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432BBA0-4B6D-BC0B-5F22-B5B9C8CB0820}"/>
              </a:ext>
            </a:extLst>
          </p:cNvPr>
          <p:cNvCxnSpPr>
            <a:cxnSpLocks/>
          </p:cNvCxnSpPr>
          <p:nvPr/>
        </p:nvCxnSpPr>
        <p:spPr>
          <a:xfrm>
            <a:off x="5247588" y="1687398"/>
            <a:ext cx="16968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4165994-665A-435D-3BAE-52211CF182D6}"/>
              </a:ext>
            </a:extLst>
          </p:cNvPr>
          <p:cNvCxnSpPr>
            <a:cxnSpLocks/>
            <a:endCxn id="8" idx="5"/>
          </p:cNvCxnSpPr>
          <p:nvPr/>
        </p:nvCxnSpPr>
        <p:spPr>
          <a:xfrm>
            <a:off x="6014301" y="1197204"/>
            <a:ext cx="0" cy="4996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CD493BE-DEE0-3A85-AD13-F0F8571D0562}"/>
              </a:ext>
            </a:extLst>
          </p:cNvPr>
          <p:cNvCxnSpPr>
            <a:stCxn id="8" idx="5"/>
          </p:cNvCxnSpPr>
          <p:nvPr/>
        </p:nvCxnSpPr>
        <p:spPr>
          <a:xfrm>
            <a:off x="6014301" y="1696825"/>
            <a:ext cx="0" cy="4562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3B44E09-D70B-8D2C-E8E5-80251EC221EE}"/>
              </a:ext>
            </a:extLst>
          </p:cNvPr>
          <p:cNvCxnSpPr/>
          <p:nvPr/>
        </p:nvCxnSpPr>
        <p:spPr>
          <a:xfrm>
            <a:off x="8333295" y="1404590"/>
            <a:ext cx="17251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C642A48-B4FF-2BED-F0BA-AEB7E69EC3E1}"/>
              </a:ext>
            </a:extLst>
          </p:cNvPr>
          <p:cNvCxnSpPr/>
          <p:nvPr/>
        </p:nvCxnSpPr>
        <p:spPr>
          <a:xfrm>
            <a:off x="8531258" y="1536567"/>
            <a:ext cx="16873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3325F77-C3AD-593F-8D5D-1A641B37C80F}"/>
              </a:ext>
            </a:extLst>
          </p:cNvPr>
          <p:cNvCxnSpPr/>
          <p:nvPr/>
        </p:nvCxnSpPr>
        <p:spPr>
          <a:xfrm>
            <a:off x="9436231" y="1404590"/>
            <a:ext cx="0" cy="1319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E66B950-1162-5BC6-B380-F9DDDB030462}"/>
              </a:ext>
            </a:extLst>
          </p:cNvPr>
          <p:cNvCxnSpPr/>
          <p:nvPr/>
        </p:nvCxnSpPr>
        <p:spPr>
          <a:xfrm>
            <a:off x="9436231" y="1536567"/>
            <a:ext cx="0" cy="4666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B7F6B4B-2177-93CC-9BB4-1290E7ACA89F}"/>
              </a:ext>
            </a:extLst>
          </p:cNvPr>
          <p:cNvSpPr txBox="1"/>
          <p:nvPr/>
        </p:nvSpPr>
        <p:spPr>
          <a:xfrm>
            <a:off x="5632516" y="6344239"/>
            <a:ext cx="890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Ts(5%)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EC3D96-A904-37A4-6409-144234B02283}"/>
              </a:ext>
            </a:extLst>
          </p:cNvPr>
          <p:cNvSpPr txBox="1"/>
          <p:nvPr/>
        </p:nvSpPr>
        <p:spPr>
          <a:xfrm>
            <a:off x="8929541" y="6372400"/>
            <a:ext cx="890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Ts(2%)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B8911D-502F-AD59-EBA9-D6A5556BC6CD}"/>
              </a:ext>
            </a:extLst>
          </p:cNvPr>
          <p:cNvSpPr txBox="1"/>
          <p:nvPr/>
        </p:nvSpPr>
        <p:spPr>
          <a:xfrm>
            <a:off x="1849223" y="6336382"/>
            <a:ext cx="60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Tau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80F2440-42F5-1C33-9658-FF353DA9BD0E}"/>
              </a:ext>
            </a:extLst>
          </p:cNvPr>
          <p:cNvCxnSpPr>
            <a:cxnSpLocks/>
          </p:cNvCxnSpPr>
          <p:nvPr/>
        </p:nvCxnSpPr>
        <p:spPr>
          <a:xfrm flipV="1">
            <a:off x="2122600" y="3007151"/>
            <a:ext cx="149260" cy="33292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0C70D65-3711-C43F-3860-40262B8AE434}"/>
              </a:ext>
            </a:extLst>
          </p:cNvPr>
          <p:cNvSpPr txBox="1"/>
          <p:nvPr/>
        </p:nvSpPr>
        <p:spPr>
          <a:xfrm>
            <a:off x="633168" y="1283617"/>
            <a:ext cx="60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VF</a:t>
            </a:r>
          </a:p>
        </p:txBody>
      </p:sp>
    </p:spTree>
    <p:extLst>
      <p:ext uri="{BB962C8B-B14F-4D97-AF65-F5344CB8AC3E}">
        <p14:creationId xmlns:p14="http://schemas.microsoft.com/office/powerpoint/2010/main" val="708697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C496A-6934-1ED6-AE0A-15FD91DC3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Exercicio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A5A97-38F1-CDAD-59CF-EF5420D4E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Dada a funcao de transferencia abaixo: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Obtenha:</a:t>
            </a:r>
          </a:p>
          <a:p>
            <a:pPr marL="0" indent="0">
              <a:buNone/>
            </a:pPr>
            <a:r>
              <a:rPr lang="pt-BR" dirty="0"/>
              <a:t>Frequencia natural do sistema</a:t>
            </a:r>
          </a:p>
          <a:p>
            <a:pPr marL="0" indent="0">
              <a:buNone/>
            </a:pPr>
            <a:r>
              <a:rPr lang="pt-BR" dirty="0"/>
              <a:t>Fator de amortecimento</a:t>
            </a:r>
          </a:p>
          <a:p>
            <a:pPr marL="0" indent="0">
              <a:buNone/>
            </a:pPr>
            <a:r>
              <a:rPr lang="pt-BR" dirty="0"/>
              <a:t>Ganho do processo</a:t>
            </a:r>
          </a:p>
          <a:p>
            <a:pPr marL="0" indent="0">
              <a:buNone/>
            </a:pPr>
            <a:r>
              <a:rPr lang="pt-BR" dirty="0"/>
              <a:t>Tempo pico</a:t>
            </a:r>
          </a:p>
          <a:p>
            <a:pPr marL="0" indent="0">
              <a:buNone/>
            </a:pPr>
            <a:r>
              <a:rPr lang="pt-BR" dirty="0"/>
              <a:t>Maximo sobressinal</a:t>
            </a:r>
          </a:p>
          <a:p>
            <a:pPr marL="0" indent="0">
              <a:buNone/>
            </a:pPr>
            <a:r>
              <a:rPr lang="pt-BR" dirty="0"/>
              <a:t>Tempo de acomodaçao 2% e 5%</a:t>
            </a:r>
          </a:p>
          <a:p>
            <a:pPr marL="0" indent="0">
              <a:buNone/>
            </a:pPr>
            <a:r>
              <a:rPr lang="pt-BR" dirty="0"/>
              <a:t>Constante de tempo</a:t>
            </a:r>
          </a:p>
          <a:p>
            <a:pPr marL="0" indent="0">
              <a:buNone/>
            </a:pPr>
            <a:r>
              <a:rPr lang="pt-BR" dirty="0"/>
              <a:t>Resposta do sistema se u(t)=0.5</a:t>
            </a:r>
          </a:p>
          <a:p>
            <a:pPr marL="0" indent="0">
              <a:buNone/>
            </a:pP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3781C5-9952-B436-B633-DB989097F467}"/>
                  </a:ext>
                </a:extLst>
              </p:cNvPr>
              <p:cNvSpPr txBox="1"/>
              <p:nvPr/>
            </p:nvSpPr>
            <p:spPr>
              <a:xfrm>
                <a:off x="4894082" y="2276674"/>
                <a:ext cx="2979405" cy="6038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3781C5-9952-B436-B633-DB989097F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082" y="2276674"/>
                <a:ext cx="2979405" cy="60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40919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53B3-E75E-0B6D-2A5C-ADBF0412A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E55EC9-C76B-EEB5-AD41-6D520E47B7A6}"/>
                  </a:ext>
                </a:extLst>
              </p:cNvPr>
              <p:cNvSpPr txBox="1"/>
              <p:nvPr/>
            </p:nvSpPr>
            <p:spPr>
              <a:xfrm>
                <a:off x="7073246" y="1898798"/>
                <a:ext cx="2384947" cy="6145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𝜁𝜔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E55EC9-C76B-EEB5-AD41-6D520E47B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246" y="1898798"/>
                <a:ext cx="2384947" cy="6145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9ADBBF63-F68B-BF0E-753D-313989AF3E88}"/>
              </a:ext>
            </a:extLst>
          </p:cNvPr>
          <p:cNvSpPr/>
          <p:nvPr/>
        </p:nvSpPr>
        <p:spPr>
          <a:xfrm>
            <a:off x="5326144" y="1970202"/>
            <a:ext cx="1319753" cy="41477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45FE05A-91DB-88D0-8517-F11AF5F380EB}"/>
              </a:ext>
            </a:extLst>
          </p:cNvPr>
          <p:cNvSpPr/>
          <p:nvPr/>
        </p:nvSpPr>
        <p:spPr>
          <a:xfrm>
            <a:off x="3459636" y="4788137"/>
            <a:ext cx="4364611" cy="698930"/>
          </a:xfrm>
          <a:custGeom>
            <a:avLst/>
            <a:gdLst>
              <a:gd name="connsiteX0" fmla="*/ 0 w 5015060"/>
              <a:gd name="connsiteY0" fmla="*/ 0 h 698930"/>
              <a:gd name="connsiteX1" fmla="*/ 3007150 w 5015060"/>
              <a:gd name="connsiteY1" fmla="*/ 697584 h 698930"/>
              <a:gd name="connsiteX2" fmla="*/ 5015060 w 5015060"/>
              <a:gd name="connsiteY2" fmla="*/ 141403 h 698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15060" h="698930">
                <a:moveTo>
                  <a:pt x="0" y="0"/>
                </a:moveTo>
                <a:cubicBezTo>
                  <a:pt x="1085653" y="337008"/>
                  <a:pt x="2171307" y="674017"/>
                  <a:pt x="3007150" y="697584"/>
                </a:cubicBezTo>
                <a:cubicBezTo>
                  <a:pt x="3842993" y="721151"/>
                  <a:pt x="4429026" y="431277"/>
                  <a:pt x="5015060" y="14140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ADABFD2-3EDE-9BA7-107E-3D3A49C605CB}"/>
              </a:ext>
            </a:extLst>
          </p:cNvPr>
          <p:cNvSpPr/>
          <p:nvPr/>
        </p:nvSpPr>
        <p:spPr>
          <a:xfrm>
            <a:off x="4062953" y="4825043"/>
            <a:ext cx="4656841" cy="906632"/>
          </a:xfrm>
          <a:custGeom>
            <a:avLst/>
            <a:gdLst>
              <a:gd name="connsiteX0" fmla="*/ 0 w 4939645"/>
              <a:gd name="connsiteY0" fmla="*/ 0 h 906632"/>
              <a:gd name="connsiteX1" fmla="*/ 3440784 w 4939645"/>
              <a:gd name="connsiteY1" fmla="*/ 904973 h 906632"/>
              <a:gd name="connsiteX2" fmla="*/ 4939645 w 4939645"/>
              <a:gd name="connsiteY2" fmla="*/ 179109 h 906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39645" h="906632">
                <a:moveTo>
                  <a:pt x="0" y="0"/>
                </a:moveTo>
                <a:cubicBezTo>
                  <a:pt x="1308755" y="437561"/>
                  <a:pt x="2617510" y="875122"/>
                  <a:pt x="3440784" y="904973"/>
                </a:cubicBezTo>
                <a:cubicBezTo>
                  <a:pt x="4264058" y="934824"/>
                  <a:pt x="4601851" y="556966"/>
                  <a:pt x="4939645" y="17910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417C6DD-EB97-7689-6397-52F03A0445CC}"/>
              </a:ext>
            </a:extLst>
          </p:cNvPr>
          <p:cNvSpPr/>
          <p:nvPr/>
        </p:nvSpPr>
        <p:spPr>
          <a:xfrm>
            <a:off x="4712284" y="4754918"/>
            <a:ext cx="4446309" cy="1463363"/>
          </a:xfrm>
          <a:custGeom>
            <a:avLst/>
            <a:gdLst>
              <a:gd name="connsiteX0" fmla="*/ 0 w 4864231"/>
              <a:gd name="connsiteY0" fmla="*/ 0 h 1463363"/>
              <a:gd name="connsiteX1" fmla="*/ 3930978 w 4864231"/>
              <a:gd name="connsiteY1" fmla="*/ 1461155 h 1463363"/>
              <a:gd name="connsiteX2" fmla="*/ 4864231 w 4864231"/>
              <a:gd name="connsiteY2" fmla="*/ 263951 h 1463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64231" h="1463363">
                <a:moveTo>
                  <a:pt x="0" y="0"/>
                </a:moveTo>
                <a:cubicBezTo>
                  <a:pt x="1560136" y="708581"/>
                  <a:pt x="3120273" y="1417163"/>
                  <a:pt x="3930978" y="1461155"/>
                </a:cubicBezTo>
                <a:cubicBezTo>
                  <a:pt x="4741683" y="1505147"/>
                  <a:pt x="4802957" y="884549"/>
                  <a:pt x="4864231" y="26395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1C2364B-3AA5-E31D-81D9-F6439400FB92}"/>
              </a:ext>
            </a:extLst>
          </p:cNvPr>
          <p:cNvSpPr/>
          <p:nvPr/>
        </p:nvSpPr>
        <p:spPr>
          <a:xfrm>
            <a:off x="3940404" y="3211095"/>
            <a:ext cx="4656841" cy="867305"/>
          </a:xfrm>
          <a:custGeom>
            <a:avLst/>
            <a:gdLst>
              <a:gd name="connsiteX0" fmla="*/ 0 w 4656841"/>
              <a:gd name="connsiteY0" fmla="*/ 839025 h 867305"/>
              <a:gd name="connsiteX1" fmla="*/ 2092750 w 4656841"/>
              <a:gd name="connsiteY1" fmla="*/ 39 h 867305"/>
              <a:gd name="connsiteX2" fmla="*/ 4656841 w 4656841"/>
              <a:gd name="connsiteY2" fmla="*/ 867305 h 867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56841" h="867305">
                <a:moveTo>
                  <a:pt x="0" y="839025"/>
                </a:moveTo>
                <a:cubicBezTo>
                  <a:pt x="658305" y="417175"/>
                  <a:pt x="1316610" y="-4674"/>
                  <a:pt x="2092750" y="39"/>
                </a:cubicBezTo>
                <a:cubicBezTo>
                  <a:pt x="2868890" y="4752"/>
                  <a:pt x="3762865" y="436028"/>
                  <a:pt x="4656841" y="86730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F714E22-2663-ED24-206C-8ABFC33880B1}"/>
                  </a:ext>
                </a:extLst>
              </p:cNvPr>
              <p:cNvSpPr txBox="1"/>
              <p:nvPr/>
            </p:nvSpPr>
            <p:spPr>
              <a:xfrm>
                <a:off x="7909089" y="347890"/>
                <a:ext cx="3668803" cy="381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pt-BR" dirty="0"/>
                  <a:t> é a expressao do tempo morto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F714E22-2663-ED24-206C-8ABFC3388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9089" y="347890"/>
                <a:ext cx="3668803" cy="381451"/>
              </a:xfrm>
              <a:prstGeom prst="rect">
                <a:avLst/>
              </a:prstGeom>
              <a:blipFill>
                <a:blip r:embed="rId7"/>
                <a:stretch>
                  <a:fillRect t="-4762" b="-238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DA021E-AB80-8EF4-46D0-063C898CE021}"/>
                  </a:ext>
                </a:extLst>
              </p:cNvPr>
              <p:cNvSpPr txBox="1"/>
              <p:nvPr/>
            </p:nvSpPr>
            <p:spPr>
              <a:xfrm>
                <a:off x="2488085" y="1825124"/>
                <a:ext cx="2224199" cy="6038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DA021E-AB80-8EF4-46D0-063C898CE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85" y="1825124"/>
                <a:ext cx="2224199" cy="6038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FD2C60-6BCD-0506-5385-DE0591D21949}"/>
                  </a:ext>
                </a:extLst>
              </p:cNvPr>
              <p:cNvSpPr txBox="1"/>
              <p:nvPr/>
            </p:nvSpPr>
            <p:spPr>
              <a:xfrm>
                <a:off x="2488085" y="3242243"/>
                <a:ext cx="2769220" cy="6038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10(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+0.1)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FD2C60-6BCD-0506-5385-DE0591D21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85" y="3242243"/>
                <a:ext cx="2769220" cy="6038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3F9A37-8496-9E0B-635E-02ACE18141D2}"/>
                  </a:ext>
                </a:extLst>
              </p:cNvPr>
              <p:cNvSpPr txBox="1"/>
              <p:nvPr/>
            </p:nvSpPr>
            <p:spPr>
              <a:xfrm>
                <a:off x="2488085" y="4074325"/>
                <a:ext cx="2410147" cy="750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+0.1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3F9A37-8496-9E0B-635E-02ACE1814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85" y="4074325"/>
                <a:ext cx="2410147" cy="75071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4C005C-2FE6-E130-5665-D18A9AD0F361}"/>
                  </a:ext>
                </a:extLst>
              </p:cNvPr>
              <p:cNvSpPr txBox="1"/>
              <p:nvPr/>
            </p:nvSpPr>
            <p:spPr>
              <a:xfrm>
                <a:off x="7073246" y="4140391"/>
                <a:ext cx="2384947" cy="6145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𝜁𝜔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4C005C-2FE6-E130-5665-D18A9AD0F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246" y="4140391"/>
                <a:ext cx="2384947" cy="61452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row: Left-Right 25">
            <a:extLst>
              <a:ext uri="{FF2B5EF4-FFF2-40B4-BE49-F238E27FC236}">
                <a16:creationId xmlns:a16="http://schemas.microsoft.com/office/drawing/2014/main" id="{444FB57A-C4A7-1F05-3434-6F844D28B536}"/>
              </a:ext>
            </a:extLst>
          </p:cNvPr>
          <p:cNvSpPr/>
          <p:nvPr/>
        </p:nvSpPr>
        <p:spPr>
          <a:xfrm>
            <a:off x="5326144" y="4240264"/>
            <a:ext cx="1319753" cy="41477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4365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53B3-E75E-0B6D-2A5C-ADBF0412A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AA0640-A791-346E-C2D4-1F41D208D2D9}"/>
                  </a:ext>
                </a:extLst>
              </p:cNvPr>
              <p:cNvSpPr txBox="1"/>
              <p:nvPr/>
            </p:nvSpPr>
            <p:spPr>
              <a:xfrm>
                <a:off x="762784" y="3772930"/>
                <a:ext cx="9379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AA0640-A791-346E-C2D4-1F41D208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784" y="3772930"/>
                <a:ext cx="937949" cy="276999"/>
              </a:xfrm>
              <a:prstGeom prst="rect">
                <a:avLst/>
              </a:prstGeom>
              <a:blipFill>
                <a:blip r:embed="rId2"/>
                <a:stretch>
                  <a:fillRect l="-3247" t="-4444" r="-5844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Right 12">
            <a:extLst>
              <a:ext uri="{FF2B5EF4-FFF2-40B4-BE49-F238E27FC236}">
                <a16:creationId xmlns:a16="http://schemas.microsoft.com/office/drawing/2014/main" id="{A209A739-A9D6-3A0F-2932-DEA252350A4F}"/>
              </a:ext>
            </a:extLst>
          </p:cNvPr>
          <p:cNvSpPr/>
          <p:nvPr/>
        </p:nvSpPr>
        <p:spPr>
          <a:xfrm>
            <a:off x="2300140" y="3772930"/>
            <a:ext cx="663019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29891F-099F-009B-621C-0FB01549EB37}"/>
                  </a:ext>
                </a:extLst>
              </p:cNvPr>
              <p:cNvSpPr txBox="1"/>
              <p:nvPr/>
            </p:nvSpPr>
            <p:spPr>
              <a:xfrm>
                <a:off x="3126969" y="3772930"/>
                <a:ext cx="16906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0.316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𝑟𝑎𝑑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29891F-099F-009B-621C-0FB01549E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6969" y="3772930"/>
                <a:ext cx="1690656" cy="276999"/>
              </a:xfrm>
              <a:prstGeom prst="rect">
                <a:avLst/>
              </a:prstGeom>
              <a:blipFill>
                <a:blip r:embed="rId3"/>
                <a:stretch>
                  <a:fillRect l="-1444" t="-2222" r="-1805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A495E2-1520-1F69-B8BE-4C6E19DC8798}"/>
                  </a:ext>
                </a:extLst>
              </p:cNvPr>
              <p:cNvSpPr txBox="1"/>
              <p:nvPr/>
            </p:nvSpPr>
            <p:spPr>
              <a:xfrm>
                <a:off x="615071" y="4248561"/>
                <a:ext cx="10678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𝜁𝜔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A495E2-1520-1F69-B8BE-4C6E19DC8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71" y="4248561"/>
                <a:ext cx="1067856" cy="276999"/>
              </a:xfrm>
              <a:prstGeom prst="rect">
                <a:avLst/>
              </a:prstGeom>
              <a:blipFill>
                <a:blip r:embed="rId4"/>
                <a:stretch>
                  <a:fillRect l="-5143" r="-4571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row: Right 15">
            <a:extLst>
              <a:ext uri="{FF2B5EF4-FFF2-40B4-BE49-F238E27FC236}">
                <a16:creationId xmlns:a16="http://schemas.microsoft.com/office/drawing/2014/main" id="{5EC411E8-94F5-4AF6-B80F-3F3918B7D044}"/>
              </a:ext>
            </a:extLst>
          </p:cNvPr>
          <p:cNvSpPr/>
          <p:nvPr/>
        </p:nvSpPr>
        <p:spPr>
          <a:xfrm>
            <a:off x="2267353" y="4244964"/>
            <a:ext cx="663019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58B9327-ADB7-A86C-E8B0-A690781884B0}"/>
                  </a:ext>
                </a:extLst>
              </p:cNvPr>
              <p:cNvSpPr txBox="1"/>
              <p:nvPr/>
            </p:nvSpPr>
            <p:spPr>
              <a:xfrm>
                <a:off x="3169297" y="4184950"/>
                <a:ext cx="2844753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2∗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0.321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58B9327-ADB7-A86C-E8B0-A69078188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297" y="4184950"/>
                <a:ext cx="2844753" cy="5203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rrow: Right 17">
            <a:extLst>
              <a:ext uri="{FF2B5EF4-FFF2-40B4-BE49-F238E27FC236}">
                <a16:creationId xmlns:a16="http://schemas.microsoft.com/office/drawing/2014/main" id="{052FE5E7-B9E9-0493-2A54-0B55566DC2FB}"/>
              </a:ext>
            </a:extLst>
          </p:cNvPr>
          <p:cNvSpPr/>
          <p:nvPr/>
        </p:nvSpPr>
        <p:spPr>
          <a:xfrm>
            <a:off x="6077352" y="4333426"/>
            <a:ext cx="663019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309121-F105-EB85-4EE7-6F08247657C5}"/>
              </a:ext>
            </a:extLst>
          </p:cNvPr>
          <p:cNvSpPr txBox="1"/>
          <p:nvPr/>
        </p:nvSpPr>
        <p:spPr>
          <a:xfrm>
            <a:off x="7073245" y="4244964"/>
            <a:ext cx="193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subamortecido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F714E22-2663-ED24-206C-8ABFC33880B1}"/>
                  </a:ext>
                </a:extLst>
              </p:cNvPr>
              <p:cNvSpPr txBox="1"/>
              <p:nvPr/>
            </p:nvSpPr>
            <p:spPr>
              <a:xfrm>
                <a:off x="7909089" y="347890"/>
                <a:ext cx="3668803" cy="381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pt-BR" dirty="0"/>
                  <a:t> é a expressao do tempo morto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F714E22-2663-ED24-206C-8ABFC3388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9089" y="347890"/>
                <a:ext cx="3668803" cy="381451"/>
              </a:xfrm>
              <a:prstGeom prst="rect">
                <a:avLst/>
              </a:prstGeom>
              <a:blipFill>
                <a:blip r:embed="rId7"/>
                <a:stretch>
                  <a:fillRect t="-4762" b="-238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2C6FEC-4304-B1CE-D435-BFCC49AE78C6}"/>
                  </a:ext>
                </a:extLst>
              </p:cNvPr>
              <p:cNvSpPr txBox="1"/>
              <p:nvPr/>
            </p:nvSpPr>
            <p:spPr>
              <a:xfrm>
                <a:off x="709125" y="4982397"/>
                <a:ext cx="6091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2C6FEC-4304-B1CE-D435-BFCC49AE7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25" y="4982397"/>
                <a:ext cx="609141" cy="276999"/>
              </a:xfrm>
              <a:prstGeom prst="rect">
                <a:avLst/>
              </a:prstGeom>
              <a:blipFill>
                <a:blip r:embed="rId8"/>
                <a:stretch>
                  <a:fillRect l="-9000" r="-9000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83C18D1-B428-D815-9376-6A58A260A7EC}"/>
                  </a:ext>
                </a:extLst>
              </p:cNvPr>
              <p:cNvSpPr txBox="1"/>
              <p:nvPr/>
            </p:nvSpPr>
            <p:spPr>
              <a:xfrm>
                <a:off x="580052" y="5550551"/>
                <a:ext cx="1037079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83C18D1-B428-D815-9376-6A58A260A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52" y="5550551"/>
                <a:ext cx="1037079" cy="5203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rrow: Right 23">
            <a:extLst>
              <a:ext uri="{FF2B5EF4-FFF2-40B4-BE49-F238E27FC236}">
                <a16:creationId xmlns:a16="http://schemas.microsoft.com/office/drawing/2014/main" id="{15D13E89-BF00-C246-EDCF-DD383D2FAC99}"/>
              </a:ext>
            </a:extLst>
          </p:cNvPr>
          <p:cNvSpPr/>
          <p:nvPr/>
        </p:nvSpPr>
        <p:spPr>
          <a:xfrm>
            <a:off x="2089814" y="5550551"/>
            <a:ext cx="663019" cy="276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E963E1-5456-1F0B-3DAF-AAC40299ECF9}"/>
                  </a:ext>
                </a:extLst>
              </p:cNvPr>
              <p:cNvSpPr txBox="1"/>
              <p:nvPr/>
            </p:nvSpPr>
            <p:spPr>
              <a:xfrm>
                <a:off x="2917910" y="5544092"/>
                <a:ext cx="1839221" cy="7016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E963E1-5456-1F0B-3DAF-AAC40299E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910" y="5544092"/>
                <a:ext cx="1839221" cy="70160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A5327F-7A93-A1FE-BF72-D41606EDF339}"/>
                  </a:ext>
                </a:extLst>
              </p:cNvPr>
              <p:cNvSpPr txBox="1"/>
              <p:nvPr/>
            </p:nvSpPr>
            <p:spPr>
              <a:xfrm>
                <a:off x="2488085" y="1755332"/>
                <a:ext cx="2410147" cy="750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+0.1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A5327F-7A93-A1FE-BF72-D41606EDF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85" y="1755332"/>
                <a:ext cx="2410147" cy="75071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672C2D-B6EE-FC5A-E8E3-138768015D43}"/>
                  </a:ext>
                </a:extLst>
              </p:cNvPr>
              <p:cNvSpPr txBox="1"/>
              <p:nvPr/>
            </p:nvSpPr>
            <p:spPr>
              <a:xfrm>
                <a:off x="7073246" y="1821398"/>
                <a:ext cx="2384947" cy="6145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𝜁𝜔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672C2D-B6EE-FC5A-E8E3-138768015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246" y="1821398"/>
                <a:ext cx="2384947" cy="61452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row: Left-Right 25">
            <a:extLst>
              <a:ext uri="{FF2B5EF4-FFF2-40B4-BE49-F238E27FC236}">
                <a16:creationId xmlns:a16="http://schemas.microsoft.com/office/drawing/2014/main" id="{6C37F336-43E4-2224-FE34-2944CCBC399A}"/>
              </a:ext>
            </a:extLst>
          </p:cNvPr>
          <p:cNvSpPr/>
          <p:nvPr/>
        </p:nvSpPr>
        <p:spPr>
          <a:xfrm>
            <a:off x="5326144" y="1921271"/>
            <a:ext cx="1319753" cy="41477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21066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8B7441-F2B2-99AE-ADA6-84E8D5B8A66B}"/>
                  </a:ext>
                </a:extLst>
              </p:cNvPr>
              <p:cNvSpPr txBox="1"/>
              <p:nvPr/>
            </p:nvSpPr>
            <p:spPr>
              <a:xfrm>
                <a:off x="820132" y="843698"/>
                <a:ext cx="1550553" cy="5887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ad>
                            <m:radPr>
                              <m:degHide m:val="on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8B7441-F2B2-99AE-ADA6-84E8D5B8A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2" y="843698"/>
                <a:ext cx="1550553" cy="5887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7AC5EDC-3073-AC11-6B16-F38DF53AB60B}"/>
              </a:ext>
            </a:extLst>
          </p:cNvPr>
          <p:cNvSpPr txBox="1"/>
          <p:nvPr/>
        </p:nvSpPr>
        <p:spPr>
          <a:xfrm>
            <a:off x="2884602" y="716437"/>
            <a:ext cx="3535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Tempo de pico (subamortecido)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DBF461-1F14-F7B8-C340-A598ACEBD891}"/>
                  </a:ext>
                </a:extLst>
              </p:cNvPr>
              <p:cNvSpPr txBox="1"/>
              <p:nvPr/>
            </p:nvSpPr>
            <p:spPr>
              <a:xfrm>
                <a:off x="727435" y="1740817"/>
                <a:ext cx="5176225" cy="5243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0.3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21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10,49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𝑠𝑒𝑔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=14,49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DBF461-1F14-F7B8-C340-A598ACEBD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35" y="1740817"/>
                <a:ext cx="5176225" cy="5243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B1D48D-1E17-5542-3CB8-A6776421379B}"/>
                  </a:ext>
                </a:extLst>
              </p:cNvPr>
              <p:cNvSpPr txBox="1"/>
              <p:nvPr/>
            </p:nvSpPr>
            <p:spPr>
              <a:xfrm>
                <a:off x="681870" y="2703925"/>
                <a:ext cx="1443537" cy="5449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𝜁</m:t>
                                      </m:r>
                                    </m:e>
                                    <m:sup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sup>
                      </m:sSup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B1D48D-1E17-5542-3CB8-A67764213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70" y="2703925"/>
                <a:ext cx="1443537" cy="5449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604FE2-2313-FBE4-D49F-4B8D7525604B}"/>
                  </a:ext>
                </a:extLst>
              </p:cNvPr>
              <p:cNvSpPr txBox="1"/>
              <p:nvPr/>
            </p:nvSpPr>
            <p:spPr>
              <a:xfrm>
                <a:off x="681870" y="3415200"/>
                <a:ext cx="2477730" cy="4862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0.3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0.3</m:t>
                                      </m:r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21</m:t>
                                      </m:r>
                                    </m:e>
                                    <m:sup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604FE2-2313-FBE4-D49F-4B8D75256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70" y="3415200"/>
                <a:ext cx="2477730" cy="48622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449032-9709-129A-C2D0-1A05DF8371B5}"/>
                  </a:ext>
                </a:extLst>
              </p:cNvPr>
              <p:cNvSpPr txBox="1"/>
              <p:nvPr/>
            </p:nvSpPr>
            <p:spPr>
              <a:xfrm>
                <a:off x="681870" y="4398954"/>
                <a:ext cx="5687904" cy="565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(2%)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𝜔𝜁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∗0.3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39,43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𝑠𝑒𝑔</m:t>
                      </m:r>
                      <m:r>
                        <a:rPr lang="pt-BR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=43,43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449032-9709-129A-C2D0-1A05DF837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70" y="4398954"/>
                <a:ext cx="5687904" cy="5651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761B7D-20CA-8073-16FE-27EFB5A2D9E8}"/>
                  </a:ext>
                </a:extLst>
              </p:cNvPr>
              <p:cNvSpPr txBox="1"/>
              <p:nvPr/>
            </p:nvSpPr>
            <p:spPr>
              <a:xfrm>
                <a:off x="681870" y="5179062"/>
                <a:ext cx="5687904" cy="566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(5%)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𝜔𝜁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∗0.3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29,57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𝑠𝑒𝑔</m:t>
                      </m:r>
                      <m:r>
                        <a:rPr lang="pt-BR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=33,57</m:t>
                      </m:r>
                    </m:oMath>
                  </m:oMathPara>
                </a14:m>
                <a:endParaRPr lang="pt-BR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761B7D-20CA-8073-16FE-27EFB5A2D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70" y="5179062"/>
                <a:ext cx="5687904" cy="5661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AEBA498-6A79-BC2E-2595-9F13898094E3}"/>
              </a:ext>
            </a:extLst>
          </p:cNvPr>
          <p:cNvSpPr txBox="1"/>
          <p:nvPr/>
        </p:nvSpPr>
        <p:spPr>
          <a:xfrm>
            <a:off x="2761165" y="2879550"/>
            <a:ext cx="3846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Maximo sobressinal (subamortecido)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1C273B-1156-638C-DDED-BDCC39B3F470}"/>
              </a:ext>
            </a:extLst>
          </p:cNvPr>
          <p:cNvCxnSpPr/>
          <p:nvPr/>
        </p:nvCxnSpPr>
        <p:spPr>
          <a:xfrm>
            <a:off x="6419654" y="263951"/>
            <a:ext cx="0" cy="6202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B44D3A-5D22-330D-EA96-5AF5422C7B30}"/>
                  </a:ext>
                </a:extLst>
              </p:cNvPr>
              <p:cNvSpPr txBox="1"/>
              <p:nvPr/>
            </p:nvSpPr>
            <p:spPr>
              <a:xfrm>
                <a:off x="6815579" y="564232"/>
                <a:ext cx="749757" cy="566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𝜔𝜁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B44D3A-5D22-330D-EA96-5AF5422C7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579" y="564232"/>
                <a:ext cx="749757" cy="5661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5DAA65E-CB9E-6BE2-7FC1-DBFC2490B899}"/>
              </a:ext>
            </a:extLst>
          </p:cNvPr>
          <p:cNvSpPr txBox="1"/>
          <p:nvPr/>
        </p:nvSpPr>
        <p:spPr>
          <a:xfrm>
            <a:off x="8125905" y="633283"/>
            <a:ext cx="281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Constante de tempo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3180C2-F7B8-5116-3888-AD929E86E915}"/>
                  </a:ext>
                </a:extLst>
              </p:cNvPr>
              <p:cNvSpPr txBox="1"/>
              <p:nvPr/>
            </p:nvSpPr>
            <p:spPr>
              <a:xfrm>
                <a:off x="6873710" y="1451924"/>
                <a:ext cx="4486934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∗0.3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9,85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𝑠𝑒𝑔</m:t>
                      </m:r>
                      <m:r>
                        <a:rPr lang="pt-BR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=13,85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3180C2-F7B8-5116-3888-AD929E86E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710" y="1451924"/>
                <a:ext cx="4486934" cy="5203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26471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914700-25CF-41D9-C40C-AF1607960776}"/>
                  </a:ext>
                </a:extLst>
              </p:cNvPr>
              <p:cNvSpPr txBox="1"/>
              <p:nvPr/>
            </p:nvSpPr>
            <p:spPr>
              <a:xfrm>
                <a:off x="961534" y="777710"/>
                <a:ext cx="2390526" cy="360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𝑠𝑌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914700-25CF-41D9-C40C-AF1607960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534" y="777710"/>
                <a:ext cx="2390526" cy="360868"/>
              </a:xfrm>
              <a:prstGeom prst="rect">
                <a:avLst/>
              </a:prstGeom>
              <a:blipFill>
                <a:blip r:embed="rId2"/>
                <a:stretch>
                  <a:fillRect l="-2041" t="-1695" r="-3061" b="-152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45E027-E298-7D25-9722-2BC4409EBC3E}"/>
              </a:ext>
            </a:extLst>
          </p:cNvPr>
          <p:cNvCxnSpPr/>
          <p:nvPr/>
        </p:nvCxnSpPr>
        <p:spPr>
          <a:xfrm>
            <a:off x="5316718" y="131975"/>
            <a:ext cx="0" cy="641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3B8E2A-3887-BD8A-583A-2AB8DBFCF967}"/>
                  </a:ext>
                </a:extLst>
              </p:cNvPr>
              <p:cNvSpPr txBox="1"/>
              <p:nvPr/>
            </p:nvSpPr>
            <p:spPr>
              <a:xfrm>
                <a:off x="6289251" y="484360"/>
                <a:ext cx="2320379" cy="750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+0.2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+0.1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3B8E2A-3887-BD8A-583A-2AB8DBFCF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251" y="484360"/>
                <a:ext cx="2320379" cy="7507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079E69-5349-DBEE-7567-28E599748F9F}"/>
                  </a:ext>
                </a:extLst>
              </p:cNvPr>
              <p:cNvSpPr txBox="1"/>
              <p:nvPr/>
            </p:nvSpPr>
            <p:spPr>
              <a:xfrm>
                <a:off x="6356810" y="1438040"/>
                <a:ext cx="2808461" cy="706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+0.2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+0.1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079E69-5349-DBEE-7567-28E599748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810" y="1438040"/>
                <a:ext cx="2808461" cy="7061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03711C6-C26C-DB4C-6BE5-84DE6DA5EE25}"/>
              </a:ext>
            </a:extLst>
          </p:cNvPr>
          <p:cNvSpPr txBox="1"/>
          <p:nvPr/>
        </p:nvSpPr>
        <p:spPr>
          <a:xfrm>
            <a:off x="5901179" y="2762054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U(t)=0.5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5BB116C-2FFB-C816-C19B-69B91F920C6D}"/>
              </a:ext>
            </a:extLst>
          </p:cNvPr>
          <p:cNvSpPr/>
          <p:nvPr/>
        </p:nvSpPr>
        <p:spPr>
          <a:xfrm>
            <a:off x="6881567" y="2333144"/>
            <a:ext cx="2121031" cy="542031"/>
          </a:xfrm>
          <a:custGeom>
            <a:avLst/>
            <a:gdLst>
              <a:gd name="connsiteX0" fmla="*/ 0 w 2121031"/>
              <a:gd name="connsiteY0" fmla="*/ 542031 h 542031"/>
              <a:gd name="connsiteX1" fmla="*/ 933254 w 2121031"/>
              <a:gd name="connsiteY1" fmla="*/ 4703 h 542031"/>
              <a:gd name="connsiteX2" fmla="*/ 2121031 w 2121031"/>
              <a:gd name="connsiteY2" fmla="*/ 325215 h 542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1031" h="542031">
                <a:moveTo>
                  <a:pt x="0" y="542031"/>
                </a:moveTo>
                <a:cubicBezTo>
                  <a:pt x="289874" y="291435"/>
                  <a:pt x="579749" y="40839"/>
                  <a:pt x="933254" y="4703"/>
                </a:cubicBezTo>
                <a:cubicBezTo>
                  <a:pt x="1286759" y="-31433"/>
                  <a:pt x="1703895" y="146891"/>
                  <a:pt x="2121031" y="32521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186CF7-8724-0354-7BB0-E60D859CC642}"/>
              </a:ext>
            </a:extLst>
          </p:cNvPr>
          <p:cNvSpPr txBox="1"/>
          <p:nvPr/>
        </p:nvSpPr>
        <p:spPr>
          <a:xfrm>
            <a:off x="9045657" y="2505843"/>
            <a:ext cx="1210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U(s)=0.5/s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37B1A1-DCBF-58E3-7586-1B10120E424F}"/>
                  </a:ext>
                </a:extLst>
              </p:cNvPr>
              <p:cNvSpPr txBox="1"/>
              <p:nvPr/>
            </p:nvSpPr>
            <p:spPr>
              <a:xfrm>
                <a:off x="6414942" y="3786884"/>
                <a:ext cx="2820900" cy="706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+0.2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+0.1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37B1A1-DCBF-58E3-7586-1B10120E4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942" y="3786884"/>
                <a:ext cx="2820900" cy="7061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Right 10">
            <a:extLst>
              <a:ext uri="{FF2B5EF4-FFF2-40B4-BE49-F238E27FC236}">
                <a16:creationId xmlns:a16="http://schemas.microsoft.com/office/drawing/2014/main" id="{AA4883B0-E820-F0C8-85F0-C6E7490172A1}"/>
              </a:ext>
            </a:extLst>
          </p:cNvPr>
          <p:cNvSpPr/>
          <p:nvPr/>
        </p:nvSpPr>
        <p:spPr>
          <a:xfrm rot="14017551">
            <a:off x="3109333" y="2213398"/>
            <a:ext cx="3828325" cy="37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6C06CD-21CA-B49B-E052-A3400F06AEC8}"/>
                  </a:ext>
                </a:extLst>
              </p:cNvPr>
              <p:cNvSpPr txBox="1"/>
              <p:nvPr/>
            </p:nvSpPr>
            <p:spPr>
              <a:xfrm>
                <a:off x="445480" y="2127187"/>
                <a:ext cx="4001929" cy="706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num>
                            <m:den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+0.2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+0.1</m:t>
                              </m:r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6C06CD-21CA-B49B-E052-A3400F06A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80" y="2127187"/>
                <a:ext cx="4001929" cy="7061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FBCE9D-B76D-B8D7-6C79-7E8B0059296C}"/>
              </a:ext>
            </a:extLst>
          </p:cNvPr>
          <p:cNvCxnSpPr/>
          <p:nvPr/>
        </p:nvCxnSpPr>
        <p:spPr>
          <a:xfrm>
            <a:off x="2109221" y="2373137"/>
            <a:ext cx="303599" cy="3786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43BACC9-FA62-D253-73A2-92FA19DDA800}"/>
              </a:ext>
            </a:extLst>
          </p:cNvPr>
          <p:cNvCxnSpPr/>
          <p:nvPr/>
        </p:nvCxnSpPr>
        <p:spPr>
          <a:xfrm>
            <a:off x="4143810" y="2572726"/>
            <a:ext cx="303599" cy="3786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4C3172-8276-9EC1-42D8-0DC9EB8BC890}"/>
                  </a:ext>
                </a:extLst>
              </p:cNvPr>
              <p:cNvSpPr txBox="1"/>
              <p:nvPr/>
            </p:nvSpPr>
            <p:spPr>
              <a:xfrm>
                <a:off x="503723" y="3051766"/>
                <a:ext cx="3331938" cy="706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∗0.5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+0.2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+0.1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4C3172-8276-9EC1-42D8-0DC9EB8BC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23" y="3051766"/>
                <a:ext cx="3331938" cy="70615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2BC69B5-DC5B-B166-E3EC-D89DE6D669C3}"/>
                  </a:ext>
                </a:extLst>
              </p:cNvPr>
              <p:cNvSpPr txBox="1"/>
              <p:nvPr/>
            </p:nvSpPr>
            <p:spPr>
              <a:xfrm>
                <a:off x="503723" y="3786884"/>
                <a:ext cx="2690801" cy="530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+0+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2BC69B5-DC5B-B166-E3EC-D89DE6D66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23" y="3786884"/>
                <a:ext cx="2690801" cy="5305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71D1AE-D71D-BB2E-7A68-7578A45FB376}"/>
                  </a:ext>
                </a:extLst>
              </p:cNvPr>
              <p:cNvSpPr txBox="1"/>
              <p:nvPr/>
            </p:nvSpPr>
            <p:spPr>
              <a:xfrm>
                <a:off x="637269" y="4522002"/>
                <a:ext cx="17755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𝑉𝐹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71D1AE-D71D-BB2E-7A68-7578A45FB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69" y="4522002"/>
                <a:ext cx="1775551" cy="276999"/>
              </a:xfrm>
              <a:prstGeom prst="rect">
                <a:avLst/>
              </a:prstGeom>
              <a:blipFill>
                <a:blip r:embed="rId9"/>
                <a:stretch>
                  <a:fillRect l="-2749" r="-3093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5151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A17426A-6E8C-DBC1-BBB4-E7360F786CDD}"/>
              </a:ext>
            </a:extLst>
          </p:cNvPr>
          <p:cNvCxnSpPr/>
          <p:nvPr/>
        </p:nvCxnSpPr>
        <p:spPr>
          <a:xfrm>
            <a:off x="603315" y="6259398"/>
            <a:ext cx="112084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59063C-617D-9E25-70A1-25B88A889549}"/>
              </a:ext>
            </a:extLst>
          </p:cNvPr>
          <p:cNvCxnSpPr/>
          <p:nvPr/>
        </p:nvCxnSpPr>
        <p:spPr>
          <a:xfrm flipV="1">
            <a:off x="1187777" y="273377"/>
            <a:ext cx="75415" cy="6353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9D5D9B7-882F-2FA1-9F68-0EFC134F45E9}"/>
              </a:ext>
            </a:extLst>
          </p:cNvPr>
          <p:cNvSpPr/>
          <p:nvPr/>
        </p:nvSpPr>
        <p:spPr>
          <a:xfrm>
            <a:off x="1687399" y="539501"/>
            <a:ext cx="10746556" cy="5663336"/>
          </a:xfrm>
          <a:custGeom>
            <a:avLst/>
            <a:gdLst>
              <a:gd name="connsiteX0" fmla="*/ 0 w 10746556"/>
              <a:gd name="connsiteY0" fmla="*/ 5663336 h 5663336"/>
              <a:gd name="connsiteX1" fmla="*/ 518474 w 10746556"/>
              <a:gd name="connsiteY1" fmla="*/ 4550973 h 5663336"/>
              <a:gd name="connsiteX2" fmla="*/ 1791092 w 10746556"/>
              <a:gd name="connsiteY2" fmla="*/ 101522 h 5663336"/>
              <a:gd name="connsiteX3" fmla="*/ 3063711 w 10746556"/>
              <a:gd name="connsiteY3" fmla="*/ 1374140 h 5663336"/>
              <a:gd name="connsiteX4" fmla="*/ 3987538 w 10746556"/>
              <a:gd name="connsiteY4" fmla="*/ 657703 h 5663336"/>
              <a:gd name="connsiteX5" fmla="*/ 4788816 w 10746556"/>
              <a:gd name="connsiteY5" fmla="*/ 1157324 h 5663336"/>
              <a:gd name="connsiteX6" fmla="*/ 5608948 w 10746556"/>
              <a:gd name="connsiteY6" fmla="*/ 799105 h 5663336"/>
              <a:gd name="connsiteX7" fmla="*/ 6476214 w 10746556"/>
              <a:gd name="connsiteY7" fmla="*/ 1034775 h 5663336"/>
              <a:gd name="connsiteX8" fmla="*/ 7296346 w 10746556"/>
              <a:gd name="connsiteY8" fmla="*/ 865093 h 5663336"/>
              <a:gd name="connsiteX9" fmla="*/ 8352148 w 10746556"/>
              <a:gd name="connsiteY9" fmla="*/ 978214 h 5663336"/>
              <a:gd name="connsiteX10" fmla="*/ 9002597 w 10746556"/>
              <a:gd name="connsiteY10" fmla="*/ 865093 h 5663336"/>
              <a:gd name="connsiteX11" fmla="*/ 10746556 w 10746556"/>
              <a:gd name="connsiteY11" fmla="*/ 883946 h 5663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746556" h="5663336">
                <a:moveTo>
                  <a:pt x="0" y="5663336"/>
                </a:moveTo>
                <a:cubicBezTo>
                  <a:pt x="109979" y="5570639"/>
                  <a:pt x="219959" y="5477942"/>
                  <a:pt x="518474" y="4550973"/>
                </a:cubicBezTo>
                <a:cubicBezTo>
                  <a:pt x="816989" y="3624004"/>
                  <a:pt x="1366886" y="630994"/>
                  <a:pt x="1791092" y="101522"/>
                </a:cubicBezTo>
                <a:cubicBezTo>
                  <a:pt x="2215298" y="-427950"/>
                  <a:pt x="2697637" y="1281443"/>
                  <a:pt x="3063711" y="1374140"/>
                </a:cubicBezTo>
                <a:cubicBezTo>
                  <a:pt x="3429785" y="1466837"/>
                  <a:pt x="3700021" y="693839"/>
                  <a:pt x="3987538" y="657703"/>
                </a:cubicBezTo>
                <a:cubicBezTo>
                  <a:pt x="4275055" y="621567"/>
                  <a:pt x="4518581" y="1133757"/>
                  <a:pt x="4788816" y="1157324"/>
                </a:cubicBezTo>
                <a:cubicBezTo>
                  <a:pt x="5059051" y="1180891"/>
                  <a:pt x="5327715" y="819530"/>
                  <a:pt x="5608948" y="799105"/>
                </a:cubicBezTo>
                <a:cubicBezTo>
                  <a:pt x="5890181" y="778680"/>
                  <a:pt x="6194981" y="1023777"/>
                  <a:pt x="6476214" y="1034775"/>
                </a:cubicBezTo>
                <a:cubicBezTo>
                  <a:pt x="6757447" y="1045773"/>
                  <a:pt x="6983690" y="874520"/>
                  <a:pt x="7296346" y="865093"/>
                </a:cubicBezTo>
                <a:cubicBezTo>
                  <a:pt x="7609002" y="855666"/>
                  <a:pt x="8067773" y="978214"/>
                  <a:pt x="8352148" y="978214"/>
                </a:cubicBezTo>
                <a:cubicBezTo>
                  <a:pt x="8636523" y="978214"/>
                  <a:pt x="8603529" y="880804"/>
                  <a:pt x="9002597" y="865093"/>
                </a:cubicBezTo>
                <a:cubicBezTo>
                  <a:pt x="9401665" y="849382"/>
                  <a:pt x="10074110" y="866664"/>
                  <a:pt x="10746556" y="8839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F3B991-7E8C-B23B-7163-8348B9370B2C}"/>
              </a:ext>
            </a:extLst>
          </p:cNvPr>
          <p:cNvCxnSpPr/>
          <p:nvPr/>
        </p:nvCxnSpPr>
        <p:spPr>
          <a:xfrm>
            <a:off x="1263192" y="1404590"/>
            <a:ext cx="1054859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9D2F50-BF08-D989-33C3-D7B214148056}"/>
              </a:ext>
            </a:extLst>
          </p:cNvPr>
          <p:cNvCxnSpPr/>
          <p:nvPr/>
        </p:nvCxnSpPr>
        <p:spPr>
          <a:xfrm flipH="1">
            <a:off x="3553906" y="539501"/>
            <a:ext cx="94268" cy="5719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73034B3-5DC1-025D-05D0-2AD2951ABD83}"/>
              </a:ext>
            </a:extLst>
          </p:cNvPr>
          <p:cNvSpPr txBox="1"/>
          <p:nvPr/>
        </p:nvSpPr>
        <p:spPr>
          <a:xfrm>
            <a:off x="10322351" y="6344239"/>
            <a:ext cx="1187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Tempo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51B5D1-ADED-9D00-F923-BC148D8C2D9A}"/>
              </a:ext>
            </a:extLst>
          </p:cNvPr>
          <p:cNvCxnSpPr/>
          <p:nvPr/>
        </p:nvCxnSpPr>
        <p:spPr>
          <a:xfrm>
            <a:off x="3648174" y="539501"/>
            <a:ext cx="0" cy="8650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AD65EE1-9A52-9F6F-2CC2-6D92CB3AAB6C}"/>
              </a:ext>
            </a:extLst>
          </p:cNvPr>
          <p:cNvSpPr txBox="1"/>
          <p:nvPr/>
        </p:nvSpPr>
        <p:spPr>
          <a:xfrm>
            <a:off x="2780908" y="829559"/>
            <a:ext cx="556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F19021-5CAC-3A01-79EF-99FE718F25BC}"/>
              </a:ext>
            </a:extLst>
          </p:cNvPr>
          <p:cNvSpPr txBox="1"/>
          <p:nvPr/>
        </p:nvSpPr>
        <p:spPr>
          <a:xfrm>
            <a:off x="2790334" y="6344239"/>
            <a:ext cx="60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Tp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B66D126-8D96-002B-B174-22364596CDEB}"/>
              </a:ext>
            </a:extLst>
          </p:cNvPr>
          <p:cNvCxnSpPr>
            <a:cxnSpLocks/>
          </p:cNvCxnSpPr>
          <p:nvPr/>
        </p:nvCxnSpPr>
        <p:spPr>
          <a:xfrm>
            <a:off x="5684364" y="1197204"/>
            <a:ext cx="16968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432BBA0-4B6D-BC0B-5F22-B5B9C8CB0820}"/>
              </a:ext>
            </a:extLst>
          </p:cNvPr>
          <p:cNvCxnSpPr>
            <a:cxnSpLocks/>
          </p:cNvCxnSpPr>
          <p:nvPr/>
        </p:nvCxnSpPr>
        <p:spPr>
          <a:xfrm>
            <a:off x="5718929" y="1687398"/>
            <a:ext cx="16968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4165994-665A-435D-3BAE-52211CF182D6}"/>
              </a:ext>
            </a:extLst>
          </p:cNvPr>
          <p:cNvCxnSpPr>
            <a:cxnSpLocks/>
          </p:cNvCxnSpPr>
          <p:nvPr/>
        </p:nvCxnSpPr>
        <p:spPr>
          <a:xfrm>
            <a:off x="6485642" y="1197204"/>
            <a:ext cx="0" cy="4996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CD493BE-DEE0-3A85-AD13-F0F8571D0562}"/>
              </a:ext>
            </a:extLst>
          </p:cNvPr>
          <p:cNvCxnSpPr>
            <a:cxnSpLocks/>
          </p:cNvCxnSpPr>
          <p:nvPr/>
        </p:nvCxnSpPr>
        <p:spPr>
          <a:xfrm>
            <a:off x="6485642" y="1696825"/>
            <a:ext cx="0" cy="4562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3B44E09-D70B-8D2C-E8E5-80251EC221EE}"/>
              </a:ext>
            </a:extLst>
          </p:cNvPr>
          <p:cNvCxnSpPr/>
          <p:nvPr/>
        </p:nvCxnSpPr>
        <p:spPr>
          <a:xfrm>
            <a:off x="8804636" y="1404590"/>
            <a:ext cx="17251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C642A48-B4FF-2BED-F0BA-AEB7E69EC3E1}"/>
              </a:ext>
            </a:extLst>
          </p:cNvPr>
          <p:cNvCxnSpPr/>
          <p:nvPr/>
        </p:nvCxnSpPr>
        <p:spPr>
          <a:xfrm>
            <a:off x="9002599" y="1536567"/>
            <a:ext cx="16873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3325F77-C3AD-593F-8D5D-1A641B37C80F}"/>
              </a:ext>
            </a:extLst>
          </p:cNvPr>
          <p:cNvCxnSpPr/>
          <p:nvPr/>
        </p:nvCxnSpPr>
        <p:spPr>
          <a:xfrm>
            <a:off x="9907572" y="1404590"/>
            <a:ext cx="0" cy="1319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E66B950-1162-5BC6-B380-F9DDDB030462}"/>
              </a:ext>
            </a:extLst>
          </p:cNvPr>
          <p:cNvCxnSpPr/>
          <p:nvPr/>
        </p:nvCxnSpPr>
        <p:spPr>
          <a:xfrm>
            <a:off x="9907572" y="1536567"/>
            <a:ext cx="0" cy="4666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B7F6B4B-2177-93CC-9BB4-1290E7ACA89F}"/>
              </a:ext>
            </a:extLst>
          </p:cNvPr>
          <p:cNvSpPr txBox="1"/>
          <p:nvPr/>
        </p:nvSpPr>
        <p:spPr>
          <a:xfrm>
            <a:off x="5632516" y="6344239"/>
            <a:ext cx="890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Ts(5%)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EC3D96-A904-37A4-6409-144234B02283}"/>
              </a:ext>
            </a:extLst>
          </p:cNvPr>
          <p:cNvSpPr txBox="1"/>
          <p:nvPr/>
        </p:nvSpPr>
        <p:spPr>
          <a:xfrm>
            <a:off x="8929541" y="6372400"/>
            <a:ext cx="890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Ts(2%)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B8911D-502F-AD59-EBA9-D6A5556BC6CD}"/>
              </a:ext>
            </a:extLst>
          </p:cNvPr>
          <p:cNvSpPr txBox="1"/>
          <p:nvPr/>
        </p:nvSpPr>
        <p:spPr>
          <a:xfrm>
            <a:off x="1849223" y="6336382"/>
            <a:ext cx="60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Tau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80F2440-42F5-1C33-9658-FF353DA9BD0E}"/>
              </a:ext>
            </a:extLst>
          </p:cNvPr>
          <p:cNvCxnSpPr>
            <a:cxnSpLocks/>
          </p:cNvCxnSpPr>
          <p:nvPr/>
        </p:nvCxnSpPr>
        <p:spPr>
          <a:xfrm flipV="1">
            <a:off x="2593941" y="3007151"/>
            <a:ext cx="149260" cy="33292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0C70D65-3711-C43F-3860-40262B8AE434}"/>
              </a:ext>
            </a:extLst>
          </p:cNvPr>
          <p:cNvSpPr txBox="1"/>
          <p:nvPr/>
        </p:nvSpPr>
        <p:spPr>
          <a:xfrm>
            <a:off x="633168" y="1283617"/>
            <a:ext cx="60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VF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D0C7E9F-7AA5-BFCD-284F-540580B39DDA}"/>
              </a:ext>
            </a:extLst>
          </p:cNvPr>
          <p:cNvSpPr/>
          <p:nvPr/>
        </p:nvSpPr>
        <p:spPr>
          <a:xfrm>
            <a:off x="1197204" y="6193410"/>
            <a:ext cx="499621" cy="77517"/>
          </a:xfrm>
          <a:custGeom>
            <a:avLst/>
            <a:gdLst>
              <a:gd name="connsiteX0" fmla="*/ 0 w 499621"/>
              <a:gd name="connsiteY0" fmla="*/ 56561 h 77517"/>
              <a:gd name="connsiteX1" fmla="*/ 113122 w 499621"/>
              <a:gd name="connsiteY1" fmla="*/ 56561 h 77517"/>
              <a:gd name="connsiteX2" fmla="*/ 424206 w 499621"/>
              <a:gd name="connsiteY2" fmla="*/ 75415 h 77517"/>
              <a:gd name="connsiteX3" fmla="*/ 499621 w 499621"/>
              <a:gd name="connsiteY3" fmla="*/ 0 h 7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9621" h="77517">
                <a:moveTo>
                  <a:pt x="0" y="56561"/>
                </a:moveTo>
                <a:cubicBezTo>
                  <a:pt x="21210" y="54990"/>
                  <a:pt x="42421" y="53419"/>
                  <a:pt x="113122" y="56561"/>
                </a:cubicBezTo>
                <a:cubicBezTo>
                  <a:pt x="183823" y="59703"/>
                  <a:pt x="359789" y="84842"/>
                  <a:pt x="424206" y="75415"/>
                </a:cubicBezTo>
                <a:cubicBezTo>
                  <a:pt x="488623" y="65988"/>
                  <a:pt x="494122" y="32994"/>
                  <a:pt x="499621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E6BFB4-4D87-A666-06F0-A483EB7E63FD}"/>
              </a:ext>
            </a:extLst>
          </p:cNvPr>
          <p:cNvSpPr txBox="1"/>
          <p:nvPr/>
        </p:nvSpPr>
        <p:spPr>
          <a:xfrm>
            <a:off x="1093510" y="6344239"/>
            <a:ext cx="746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Theta</a:t>
            </a:r>
          </a:p>
        </p:txBody>
      </p:sp>
    </p:spTree>
    <p:extLst>
      <p:ext uri="{BB962C8B-B14F-4D97-AF65-F5344CB8AC3E}">
        <p14:creationId xmlns:p14="http://schemas.microsoft.com/office/powerpoint/2010/main" val="3262015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1252</Words>
  <Application>Microsoft Office PowerPoint</Application>
  <PresentationFormat>Widescreen</PresentationFormat>
  <Paragraphs>298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Office Theme</vt:lpstr>
      <vt:lpstr>Aula de Exercicios</vt:lpstr>
      <vt:lpstr>Lembrando a aula passada</vt:lpstr>
      <vt:lpstr>Exercicio</vt:lpstr>
      <vt:lpstr>Solução</vt:lpstr>
      <vt:lpstr>PowerPoint Presentation</vt:lpstr>
      <vt:lpstr>PowerPoint Presentation</vt:lpstr>
      <vt:lpstr>PowerPoint Presentation</vt:lpstr>
      <vt:lpstr>Exercicio</vt:lpstr>
      <vt:lpstr>Solução</vt:lpstr>
      <vt:lpstr>PowerPoint Presentation</vt:lpstr>
      <vt:lpstr>PowerPoint Presentation</vt:lpstr>
      <vt:lpstr>PowerPoint Presentation</vt:lpstr>
      <vt:lpstr>Exercicio</vt:lpstr>
      <vt:lpstr>Solução</vt:lpstr>
      <vt:lpstr>PowerPoint Presentation</vt:lpstr>
      <vt:lpstr>PowerPoint Presentation</vt:lpstr>
      <vt:lpstr>PowerPoint Presentation</vt:lpstr>
      <vt:lpstr>Exercicio</vt:lpstr>
      <vt:lpstr>Solução</vt:lpstr>
      <vt:lpstr>Solução</vt:lpstr>
      <vt:lpstr>PowerPoint Presentation</vt:lpstr>
      <vt:lpstr>PowerPoint Presentation</vt:lpstr>
      <vt:lpstr>PowerPoint Presentation</vt:lpstr>
      <vt:lpstr>Exercicio</vt:lpstr>
      <vt:lpstr>Solução</vt:lpstr>
      <vt:lpstr>Solução</vt:lpstr>
      <vt:lpstr>PowerPoint Presentation</vt:lpstr>
      <vt:lpstr>PowerPoint Presentation</vt:lpstr>
      <vt:lpstr>PowerPoint Presentation</vt:lpstr>
    </vt:vector>
  </TitlesOfParts>
  <Company>Andritz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13</dc:title>
  <dc:creator>Alvarado Christiam</dc:creator>
  <cp:lastModifiedBy>Alvarado Christiam</cp:lastModifiedBy>
  <cp:revision>3</cp:revision>
  <dcterms:created xsi:type="dcterms:W3CDTF">2024-08-26T23:39:46Z</dcterms:created>
  <dcterms:modified xsi:type="dcterms:W3CDTF">2024-08-29T01:30:56Z</dcterms:modified>
</cp:coreProperties>
</file>